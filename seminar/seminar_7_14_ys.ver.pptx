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80" r:id="rId2"/>
    <p:sldMasterId id="2147483672" r:id="rId3"/>
  </p:sldMasterIdLst>
  <p:notesMasterIdLst>
    <p:notesMasterId r:id="rId14"/>
  </p:notesMasterIdLst>
  <p:handoutMasterIdLst>
    <p:handoutMasterId r:id="rId15"/>
  </p:handoutMasterIdLst>
  <p:sldIdLst>
    <p:sldId id="260" r:id="rId4"/>
    <p:sldId id="279" r:id="rId5"/>
    <p:sldId id="271" r:id="rId6"/>
    <p:sldId id="288" r:id="rId7"/>
    <p:sldId id="262" r:id="rId8"/>
    <p:sldId id="289" r:id="rId9"/>
    <p:sldId id="284" r:id="rId10"/>
    <p:sldId id="270" r:id="rId11"/>
    <p:sldId id="290" r:id="rId12"/>
    <p:sldId id="286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" id="{E543A5CD-4AF6-4244-8B8D-19C4EAC75729}">
          <p14:sldIdLst>
            <p14:sldId id="260"/>
            <p14:sldId id="279"/>
            <p14:sldId id="271"/>
            <p14:sldId id="288"/>
            <p14:sldId id="262"/>
            <p14:sldId id="289"/>
            <p14:sldId id="284"/>
            <p14:sldId id="270"/>
            <p14:sldId id="290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34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상윤 한" initials="상한" lastIdx="1" clrIdx="0">
    <p:extLst>
      <p:ext uri="{19B8F6BF-5375-455C-9EA6-DF929625EA0E}">
        <p15:presenceInfo xmlns:p15="http://schemas.microsoft.com/office/powerpoint/2012/main" userId="0e54a1fd688efae2" providerId="Windows Live"/>
      </p:ext>
    </p:extLst>
  </p:cmAuthor>
  <p:cmAuthor id="2" name="정재건" initials="정" lastIdx="1" clrIdx="1">
    <p:extLst>
      <p:ext uri="{19B8F6BF-5375-455C-9EA6-DF929625EA0E}">
        <p15:presenceInfo xmlns:p15="http://schemas.microsoft.com/office/powerpoint/2012/main" userId="S::worjs79@mail.hongik.ac.kr::fafb4440-df7b-4faf-8e55-54130aa093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64AE"/>
    <a:srgbClr val="0000BA"/>
    <a:srgbClr val="D9D9D9"/>
    <a:srgbClr val="6488A1"/>
    <a:srgbClr val="729CA6"/>
    <a:srgbClr val="C40F0F"/>
    <a:srgbClr val="6C93A4"/>
    <a:srgbClr val="FF8384"/>
    <a:srgbClr val="4FA7B1"/>
    <a:srgbClr val="ECB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0" autoAdjust="0"/>
    <p:restoredTop sz="95274" autoAdjust="0"/>
  </p:normalViewPr>
  <p:slideViewPr>
    <p:cSldViewPr snapToGrid="0">
      <p:cViewPr>
        <p:scale>
          <a:sx n="78" d="100"/>
          <a:sy n="78" d="100"/>
        </p:scale>
        <p:origin x="1552" y="1096"/>
      </p:cViewPr>
      <p:guideLst>
        <p:guide orient="horz" pos="640"/>
        <p:guide pos="3492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6A57B8-D2CD-38DB-DEA6-E93D944924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76D9A1-BEBC-B609-AE6D-D9FF99C6B6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8F5C0-F2EC-41E2-9E5F-C6D82C57A469}" type="datetimeFigureOut">
              <a:rPr lang="ko-KR" altLang="en-US" smtClean="0"/>
              <a:t>2026. 7. 14.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849A59-D667-290B-E826-825006E6AC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79D652-9032-D5CA-B90A-1BDF3F47B6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1E59D-5AF1-4F6E-B98D-988FE4705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1690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90155-FEE0-4101-94D7-86F05FA52159}" type="datetimeFigureOut">
              <a:rPr lang="ko-KR" altLang="en-US" smtClean="0"/>
              <a:t>2026. 7. 14.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52789-22A4-49C1-8D66-AABD55958F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44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예를</a:t>
            </a:r>
            <a:r>
              <a:rPr kumimoji="1" lang="ko-KR" altLang="en-US" dirty="0"/>
              <a:t> 들어 뇌를 찍는다고 하면 뇌는 </a:t>
            </a:r>
            <a:r>
              <a:rPr kumimoji="1" lang="en-US" altLang="ko-KR" dirty="0"/>
              <a:t>3</a:t>
            </a:r>
            <a:r>
              <a:rPr kumimoji="1" lang="ko-KR" altLang="en-US" dirty="0"/>
              <a:t>차원 물체이고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여기서 </a:t>
            </a:r>
            <a:r>
              <a:rPr kumimoji="1" lang="en-US" altLang="ko-KR" dirty="0" err="1"/>
              <a:t>x,y,z</a:t>
            </a:r>
            <a:r>
              <a:rPr kumimoji="1" lang="ko-KR" altLang="en-US" dirty="0"/>
              <a:t>축은 몸 안의 실제 위치입니다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여기서</a:t>
            </a:r>
            <a:endParaRPr kumimoji="1" lang="en-US" altLang="ko-KR" dirty="0"/>
          </a:p>
          <a:p>
            <a:r>
              <a:rPr kumimoji="1" lang="en-US" altLang="ko-Kore-KR" dirty="0"/>
              <a:t>X</a:t>
            </a:r>
            <a:r>
              <a:rPr kumimoji="1" lang="ko-KR" altLang="en-US" dirty="0"/>
              <a:t>축은 한 장 안에서 가로 방향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y</a:t>
            </a:r>
            <a:r>
              <a:rPr kumimoji="1" lang="ko-KR" altLang="en-US" dirty="0"/>
              <a:t>축은 한 장 안에서 세로 방향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z</a:t>
            </a:r>
            <a:r>
              <a:rPr kumimoji="1" lang="ko-KR" altLang="en-US" dirty="0"/>
              <a:t>축은 여러 장의 </a:t>
            </a:r>
            <a:r>
              <a:rPr kumimoji="1" lang="en-US" altLang="ko-KR" dirty="0"/>
              <a:t>slice</a:t>
            </a:r>
            <a:r>
              <a:rPr kumimoji="1" lang="ko-KR" altLang="en-US" dirty="0"/>
              <a:t>가 쌓이는 방향입니다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716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ore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dirty="0" err="1"/>
              <a:t>Mri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아주 촘촘히 찍으면 </a:t>
            </a:r>
            <a:r>
              <a:rPr kumimoji="1" lang="en-US" altLang="ko-KR" dirty="0"/>
              <a:t>z</a:t>
            </a:r>
            <a:r>
              <a:rPr kumimoji="1" lang="ko-KR" altLang="en-US" dirty="0"/>
              <a:t> 축 방향으로 </a:t>
            </a:r>
            <a:r>
              <a:rPr kumimoji="1" lang="en-US" altLang="ko-KR" dirty="0"/>
              <a:t>slice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많이 찍게 되는데 전체를 촘촘히 찍으면 정보는 많지만 시간이 오래 걸립니다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그래서 </a:t>
            </a:r>
            <a:r>
              <a:rPr kumimoji="1" lang="en-US" altLang="ko-KR" dirty="0"/>
              <a:t>z</a:t>
            </a:r>
            <a:r>
              <a:rPr kumimoji="1" lang="ko-KR" altLang="en-US" dirty="0"/>
              <a:t>축에서 몇 개만 뽑는다는 것은 </a:t>
            </a:r>
            <a:r>
              <a:rPr lang="ko-KR" altLang="en-US" dirty="0"/>
              <a:t>몸 전체를 아주 자세히 다 찍기 전에</a:t>
            </a:r>
            <a:r>
              <a:rPr lang="en-US" altLang="ko-KR" dirty="0"/>
              <a:t>, </a:t>
            </a:r>
            <a:r>
              <a:rPr lang="ko-KR" altLang="en-US" dirty="0"/>
              <a:t>먼저 몇 장만 빠르게 보고 이상한 곳이 있는지 확인하는 것입니다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ore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dirty="0"/>
              <a:t>이때</a:t>
            </a:r>
            <a:r>
              <a:rPr kumimoji="1" lang="ko-KR" altLang="en-US" dirty="0"/>
              <a:t> </a:t>
            </a:r>
            <a:r>
              <a:rPr kumimoji="1" lang="en-US" altLang="ko-KR" dirty="0"/>
              <a:t>z</a:t>
            </a:r>
            <a:r>
              <a:rPr kumimoji="1" lang="ko-KR" altLang="en-US" dirty="0"/>
              <a:t>축 간격은 </a:t>
            </a:r>
            <a:r>
              <a:rPr kumimoji="1" lang="en-US" altLang="ko-KR" dirty="0"/>
              <a:t>slice </a:t>
            </a:r>
            <a:r>
              <a:rPr kumimoji="1" lang="ko-KR" altLang="en-US" dirty="0"/>
              <a:t>사이 거리인데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이걸 간격을 </a:t>
            </a:r>
            <a:r>
              <a:rPr kumimoji="1" lang="en-US" altLang="ko-KR" dirty="0"/>
              <a:t>1mm,</a:t>
            </a:r>
            <a:r>
              <a:rPr kumimoji="1" lang="ko-KR" altLang="en-US" dirty="0"/>
              <a:t> </a:t>
            </a:r>
            <a:r>
              <a:rPr kumimoji="1" lang="en-US" altLang="ko-KR" dirty="0"/>
              <a:t>2mm</a:t>
            </a:r>
            <a:r>
              <a:rPr kumimoji="1" lang="ko-KR" altLang="en-US" dirty="0"/>
              <a:t> 이렇게 찍으면 영상은 더 자세해지지만 시간이 </a:t>
            </a:r>
            <a:r>
              <a:rPr kumimoji="1" lang="ko-KR" altLang="en-US" dirty="0" err="1"/>
              <a:t>오래걸리고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10mm,</a:t>
            </a:r>
            <a:r>
              <a:rPr kumimoji="1" lang="ko-KR" altLang="en-US" dirty="0"/>
              <a:t> </a:t>
            </a:r>
            <a:r>
              <a:rPr kumimoji="1" lang="en-US" altLang="ko-KR" dirty="0"/>
              <a:t>11mm </a:t>
            </a:r>
            <a:r>
              <a:rPr kumimoji="1" lang="ko-KR" altLang="en-US" dirty="0"/>
              <a:t>이런 간격으로 찍으면 시간은 줄지만 중간 정보가 부족할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139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79E9-A2ED-B381-ACD7-163234DE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11A70C-B264-65DC-E11A-D05529275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D02AE1-BCD0-AFA3-017F-09DAE4A86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dirty="0"/>
              <a:t>이전에는</a:t>
            </a:r>
            <a:r>
              <a:rPr kumimoji="1" lang="ko-KR" altLang="en-US" dirty="0"/>
              <a:t> 어느 단면을 찍을지를 골랐다면 이 </a:t>
            </a:r>
            <a:r>
              <a:rPr kumimoji="1" lang="en-US" altLang="ko-KR" dirty="0"/>
              <a:t>k-space</a:t>
            </a:r>
            <a:r>
              <a:rPr kumimoji="1" lang="ko-KR" altLang="en-US" dirty="0"/>
              <a:t> </a:t>
            </a:r>
            <a:r>
              <a:rPr kumimoji="1" lang="en-US" altLang="ko-KR" dirty="0"/>
              <a:t>sampling</a:t>
            </a:r>
            <a:r>
              <a:rPr kumimoji="1" lang="ko-KR" altLang="en-US" dirty="0"/>
              <a:t>은 선택한 </a:t>
            </a:r>
            <a:r>
              <a:rPr kumimoji="1" lang="en-US" altLang="ko-KR" dirty="0"/>
              <a:t>slice </a:t>
            </a:r>
            <a:r>
              <a:rPr kumimoji="1" lang="ko-KR" altLang="en-US" dirty="0"/>
              <a:t>안에서 </a:t>
            </a:r>
            <a:r>
              <a:rPr kumimoji="1" lang="en-US" altLang="ko-KR" dirty="0"/>
              <a:t>K-space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얼마나 찍을지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즉 그 단면을 얼마나 자세하게 </a:t>
            </a:r>
            <a:r>
              <a:rPr kumimoji="1" lang="ko-KR" altLang="en-US" dirty="0" err="1"/>
              <a:t>측정할까의</a:t>
            </a:r>
            <a:r>
              <a:rPr kumimoji="1" lang="ko-KR" altLang="en-US" dirty="0"/>
              <a:t> 문제입니다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376F4-D84A-AAC8-D78B-5075DDFB7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615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517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A4408-3476-93C3-241F-ED917DCC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B2CBFD-9B54-FA6C-3622-797C6311D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6C0CD6-E17F-356D-F33B-F17994EFA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지난번 피드백을 반영하여</a:t>
            </a:r>
            <a:r>
              <a:rPr lang="en-US" altLang="ko-KR" dirty="0"/>
              <a:t>, </a:t>
            </a:r>
            <a:r>
              <a:rPr lang="ko-KR" altLang="en-US" dirty="0"/>
              <a:t>이번에는 </a:t>
            </a:r>
            <a:r>
              <a:rPr lang="en" altLang="ko-Kore-KR" dirty="0"/>
              <a:t>MRI </a:t>
            </a:r>
            <a:r>
              <a:rPr lang="ko-KR" altLang="en-US" dirty="0"/>
              <a:t>촬영과 영상 복원을 분리된 과정이 아니라 </a:t>
            </a:r>
            <a:r>
              <a:rPr lang="ko-KR" altLang="en-US" b="1" dirty="0"/>
              <a:t>강화학습 기반의 </a:t>
            </a:r>
            <a:r>
              <a:rPr lang="ko-KR" altLang="en-US" b="1" dirty="0" err="1"/>
              <a:t>폐루프</a:t>
            </a:r>
            <a:r>
              <a:rPr lang="ko-KR" altLang="en-US" b="1" dirty="0"/>
              <a:t> 구조</a:t>
            </a:r>
            <a:r>
              <a:rPr lang="ko-KR" altLang="en-US" dirty="0"/>
              <a:t>로 구성하고자 합니다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r>
              <a:rPr lang="en-US" altLang="ko-KR" dirty="0" err="1"/>
              <a:t>Pulseq</a:t>
            </a:r>
            <a:r>
              <a:rPr lang="ko-KR" altLang="en-US" dirty="0"/>
              <a:t> 설계 및 실행을 통해 조금만 먼저 촬영하고</a:t>
            </a:r>
            <a:r>
              <a:rPr lang="en-US" altLang="ko-KR" dirty="0"/>
              <a:t>,</a:t>
            </a:r>
            <a:r>
              <a:rPr lang="ko-KR" altLang="en-US" dirty="0"/>
              <a:t> 자기지도학습 </a:t>
            </a:r>
            <a:r>
              <a:rPr lang="en-US" altLang="ko-KR" dirty="0"/>
              <a:t>ai</a:t>
            </a:r>
            <a:r>
              <a:rPr lang="ko-KR" altLang="en-US" dirty="0"/>
              <a:t>가 현재 영상을 복원한 뒤 강화학습 </a:t>
            </a:r>
            <a:r>
              <a:rPr lang="en-US" altLang="ko-KR" dirty="0"/>
              <a:t>agent</a:t>
            </a:r>
            <a:r>
              <a:rPr lang="ko-KR" altLang="en-US" dirty="0"/>
              <a:t>가 현재 상태를 보고 그 에이전트가 다음 촬영 위치를 선택하게 됩니다</a:t>
            </a:r>
            <a:r>
              <a:rPr lang="en-US" altLang="ko-KR" dirty="0"/>
              <a:t>.</a:t>
            </a:r>
            <a:r>
              <a:rPr lang="ko-KR" altLang="en-US" dirty="0"/>
              <a:t> 영상 품질 또는 진단 정보가 충분하면 최종적으로 </a:t>
            </a:r>
            <a:r>
              <a:rPr lang="en-US" altLang="ko-KR" dirty="0" err="1"/>
              <a:t>mri</a:t>
            </a:r>
            <a:r>
              <a:rPr lang="ko-KR" altLang="en-US" dirty="0"/>
              <a:t> 영상을 생성하게 되는 구조입니다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43CA0-9CF3-4722-12C3-9472FA5EA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584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강화학습을 이용해 </a:t>
            </a:r>
            <a:r>
              <a:rPr lang="en" altLang="ko-Kore-KR" dirty="0"/>
              <a:t>MRI </a:t>
            </a:r>
            <a:r>
              <a:rPr lang="ko-KR" altLang="en-US" dirty="0"/>
              <a:t>촬영과 복원을 반복적으로 연결하는 전체 흐름을 다음과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현재까지 획득한 </a:t>
            </a:r>
            <a:r>
              <a:rPr lang="en" altLang="ko-Kore-KR" dirty="0"/>
              <a:t>k-space </a:t>
            </a:r>
            <a:r>
              <a:rPr lang="ko-KR" altLang="en-US" dirty="0"/>
              <a:t>데이터로 영상을 복원하고</a:t>
            </a:r>
            <a:r>
              <a:rPr lang="en-US" altLang="ko-KR" dirty="0"/>
              <a:t>, </a:t>
            </a:r>
            <a:r>
              <a:rPr lang="ko-KR" altLang="en-US" dirty="0"/>
              <a:t>강화학습 </a:t>
            </a:r>
            <a:r>
              <a:rPr lang="en" altLang="ko-Kore-KR" dirty="0"/>
              <a:t>Agent</a:t>
            </a:r>
            <a:r>
              <a:rPr lang="ko-KR" altLang="en-US" dirty="0"/>
              <a:t>는 복원 영상의 품질과 불확실도</a:t>
            </a:r>
            <a:r>
              <a:rPr lang="en-US" altLang="ko-KR" dirty="0"/>
              <a:t>, </a:t>
            </a:r>
            <a:r>
              <a:rPr lang="ko-KR" altLang="en-US" dirty="0"/>
              <a:t>남은 촬영 시간 등을 종합해 다음에 측정할 </a:t>
            </a:r>
            <a:r>
              <a:rPr lang="en" altLang="ko-Kore-KR" dirty="0"/>
              <a:t>k-space line</a:t>
            </a:r>
            <a:r>
              <a:rPr lang="ko-KR" altLang="en-US" dirty="0"/>
              <a:t>이나 </a:t>
            </a:r>
            <a:r>
              <a:rPr lang="en" altLang="ko-Kore-KR" dirty="0"/>
              <a:t>slice</a:t>
            </a:r>
            <a:r>
              <a:rPr lang="ko-KR" altLang="en-US" dirty="0" err="1"/>
              <a:t>를</a:t>
            </a:r>
            <a:r>
              <a:rPr lang="ko-KR" altLang="en-US" dirty="0"/>
              <a:t> 선택합니다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" altLang="ko-Kore-KR" dirty="0"/>
              <a:t>MRI scanner</a:t>
            </a:r>
            <a:r>
              <a:rPr lang="ko-KR" altLang="en-US" dirty="0"/>
              <a:t>가 해당 데이터를 추가로 획득하면 </a:t>
            </a:r>
            <a:r>
              <a:rPr lang="en" altLang="ko-Kore-KR" dirty="0"/>
              <a:t>self-supervised reconstruction </a:t>
            </a:r>
            <a:r>
              <a:rPr lang="ko-KR" altLang="en-US" dirty="0"/>
              <a:t>모델이 영상을 다시 복원하고</a:t>
            </a:r>
            <a:r>
              <a:rPr lang="en-US" altLang="ko-KR" dirty="0"/>
              <a:t>, </a:t>
            </a:r>
            <a:r>
              <a:rPr lang="ko-KR" altLang="en-US" dirty="0"/>
              <a:t>이전 영상과 비교해 품질이 얼마나 향상되었는지</a:t>
            </a:r>
            <a:r>
              <a:rPr lang="en-US" altLang="ko-KR" dirty="0"/>
              <a:t>, </a:t>
            </a:r>
            <a:r>
              <a:rPr lang="ko-KR" altLang="en-US" dirty="0"/>
              <a:t>불확실도가 얼마나 감소했는지를 바탕으로 보상이 계산됩니다</a:t>
            </a:r>
            <a:r>
              <a:rPr lang="en-US" altLang="ko-KR" dirty="0"/>
              <a:t>. </a:t>
            </a:r>
            <a:r>
              <a:rPr lang="en" altLang="ko-Kore-KR" dirty="0"/>
              <a:t>Agent</a:t>
            </a:r>
            <a:r>
              <a:rPr lang="ko-KR" altLang="en-US" dirty="0"/>
              <a:t>는 이러한 결과를 학습하면서 제한된 촬영 시간 안에 가장 필요한 데이터를 우선적으로 선택하게 되며</a:t>
            </a:r>
            <a:r>
              <a:rPr lang="en-US" altLang="ko-KR" dirty="0"/>
              <a:t>, </a:t>
            </a:r>
            <a:r>
              <a:rPr lang="ko-KR" altLang="en-US" dirty="0"/>
              <a:t>이 과정을 반복해 충분한 진단 정보가 확보되면 촬영을 종료하고 최종 </a:t>
            </a:r>
            <a:r>
              <a:rPr lang="en" altLang="ko-Kore-KR" dirty="0"/>
              <a:t>MRI </a:t>
            </a:r>
            <a:r>
              <a:rPr lang="ko-KR" altLang="en-US" dirty="0"/>
              <a:t>영상을 생성하는 구조입니다</a:t>
            </a:r>
            <a:r>
              <a:rPr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100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강화학습 문제를 </a:t>
            </a:r>
            <a:r>
              <a:rPr lang="ko-KR" altLang="en-US" dirty="0" err="1"/>
              <a:t>설명할때</a:t>
            </a:r>
            <a:r>
              <a:rPr lang="ko-KR" altLang="en-US" dirty="0"/>
              <a:t> 행동공간이 </a:t>
            </a:r>
            <a:r>
              <a:rPr lang="ko-KR" altLang="en-US" dirty="0" err="1"/>
              <a:t>이산형인지</a:t>
            </a:r>
            <a:r>
              <a:rPr lang="ko-KR" altLang="en-US" dirty="0"/>
              <a:t> </a:t>
            </a:r>
            <a:r>
              <a:rPr lang="ko-KR" altLang="en-US" dirty="0" err="1"/>
              <a:t>연속형인지를</a:t>
            </a:r>
            <a:r>
              <a:rPr lang="ko-KR" altLang="en-US" dirty="0"/>
              <a:t> 기준으로 크게 구분을 합니다</a:t>
            </a:r>
            <a:r>
              <a:rPr lang="en-US" altLang="ko-KR" dirty="0"/>
              <a:t>.</a:t>
            </a:r>
            <a:r>
              <a:rPr lang="ko-KR" altLang="en-US" dirty="0"/>
              <a:t> 현재 프로젝트는 다음에 측정할 </a:t>
            </a:r>
            <a:r>
              <a:rPr lang="en-US" altLang="ko-KR" dirty="0"/>
              <a:t>k-space</a:t>
            </a:r>
            <a:r>
              <a:rPr lang="ko-KR" altLang="en-US" dirty="0"/>
              <a:t> </a:t>
            </a:r>
            <a:r>
              <a:rPr lang="en-US" altLang="ko-KR" dirty="0"/>
              <a:t>line</a:t>
            </a:r>
            <a:r>
              <a:rPr lang="ko-KR" altLang="en-US" dirty="0"/>
              <a:t> 하나를 </a:t>
            </a:r>
            <a:r>
              <a:rPr lang="ko-KR" altLang="en-US" dirty="0" err="1"/>
              <a:t>선택하는거니까</a:t>
            </a:r>
            <a:r>
              <a:rPr lang="ko-KR" altLang="en-US" dirty="0"/>
              <a:t> 선택지가 번호처럼 명확히 구분되어 있으므로 이산 공간입니다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대표 알고리즘으로 </a:t>
            </a:r>
            <a:r>
              <a:rPr lang="en-US" altLang="ko-KR" dirty="0"/>
              <a:t>DQN, </a:t>
            </a:r>
            <a:r>
              <a:rPr lang="en-US" altLang="ko-KR" dirty="0" err="1"/>
              <a:t>Doulble</a:t>
            </a:r>
            <a:r>
              <a:rPr lang="en-US" altLang="ko-KR" dirty="0"/>
              <a:t> DQN(deep q network)</a:t>
            </a:r>
            <a:r>
              <a:rPr lang="ko-KR" altLang="en-US" dirty="0"/>
              <a:t> 등이 있는데요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" altLang="ko-Kore-KR" dirty="0"/>
          </a:p>
          <a:p>
            <a:r>
              <a:rPr lang="en" altLang="ko-Kore-KR" dirty="0"/>
              <a:t>Double DQN</a:t>
            </a:r>
            <a:r>
              <a:rPr lang="ko-KR" altLang="en-US" dirty="0"/>
              <a:t>의 핵심은 </a:t>
            </a:r>
            <a:r>
              <a:rPr lang="en" altLang="ko-Kore-KR" b="1" dirty="0"/>
              <a:t>Q Network</a:t>
            </a:r>
            <a:r>
              <a:rPr lang="ko-KR" altLang="en-US" b="1" dirty="0"/>
              <a:t>와 </a:t>
            </a:r>
            <a:r>
              <a:rPr lang="en" altLang="ko-Kore-KR" b="1" dirty="0"/>
              <a:t>Target Q Network</a:t>
            </a:r>
            <a:r>
              <a:rPr lang="ko-KR" altLang="en-US" b="1" dirty="0"/>
              <a:t>의 역할을 나누는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" altLang="ko-Kore-KR" dirty="0"/>
              <a:t>Q Network</a:t>
            </a:r>
            <a:r>
              <a:rPr lang="ko-KR" altLang="en-US" dirty="0"/>
              <a:t>가 “다음에는 이 </a:t>
            </a:r>
            <a:r>
              <a:rPr lang="en" altLang="ko-Kore-KR" dirty="0"/>
              <a:t>k-space line</a:t>
            </a:r>
            <a:r>
              <a:rPr lang="ko-KR" altLang="en-US" dirty="0"/>
              <a:t>을 </a:t>
            </a:r>
            <a:r>
              <a:rPr lang="ko-KR" altLang="en-US" dirty="0" err="1"/>
              <a:t>촬영하자”고</a:t>
            </a:r>
            <a:r>
              <a:rPr lang="ko-KR" altLang="en-US" dirty="0"/>
              <a:t> 선택하면</a:t>
            </a:r>
            <a:r>
              <a:rPr lang="en-US" altLang="ko-KR" dirty="0"/>
              <a:t>, </a:t>
            </a:r>
            <a:r>
              <a:rPr lang="en" altLang="ko-Kore-KR" dirty="0"/>
              <a:t>Target Q Network</a:t>
            </a:r>
            <a:r>
              <a:rPr lang="ko-KR" altLang="en-US" dirty="0"/>
              <a:t>가 “그 선택이 실제로 얼마나 좋은 선택인지” 한 번 더 평가합니다</a:t>
            </a:r>
            <a:r>
              <a:rPr lang="en-US" altLang="ko-KR" dirty="0"/>
              <a:t>. </a:t>
            </a:r>
            <a:r>
              <a:rPr lang="ko-KR" altLang="en-US" dirty="0"/>
              <a:t>쉽게 말하면</a:t>
            </a:r>
            <a:r>
              <a:rPr lang="en-US" altLang="ko-KR" dirty="0"/>
              <a:t>, </a:t>
            </a:r>
            <a:r>
              <a:rPr lang="ko-KR" altLang="en-US" b="1" dirty="0"/>
              <a:t>한 명이 답을 고르고 다른 한 명이 채점하는 방식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네트워크가 선택과 평가를 모두 하면 자기 선택을 지나치게 높게 평가할 수 있지만</a:t>
            </a:r>
            <a:r>
              <a:rPr lang="en-US" altLang="ko-KR" dirty="0"/>
              <a:t>, </a:t>
            </a:r>
            <a:r>
              <a:rPr lang="ko-KR" altLang="en-US" dirty="0"/>
              <a:t>두 네트워크가 역할을 나누면 이러한 오류를 줄일 수 있습니다</a:t>
            </a:r>
            <a:r>
              <a:rPr lang="en-US" altLang="ko-KR" dirty="0"/>
              <a:t>. </a:t>
            </a:r>
            <a:r>
              <a:rPr lang="en" altLang="ko-Kore-KR" dirty="0"/>
              <a:t>Target Q Network</a:t>
            </a:r>
            <a:r>
              <a:rPr lang="ko-KR" altLang="en-US" dirty="0"/>
              <a:t>는 매번 바뀌지 않고 일정 횟수마다 </a:t>
            </a:r>
            <a:r>
              <a:rPr lang="en" altLang="ko-Kore-KR" dirty="0"/>
              <a:t>Q Network</a:t>
            </a:r>
            <a:r>
              <a:rPr lang="ko-KR" altLang="en-US" dirty="0"/>
              <a:t>의 학습 결과를 </a:t>
            </a:r>
            <a:r>
              <a:rPr lang="ko-KR" altLang="en-US" dirty="0" err="1"/>
              <a:t>복사받기</a:t>
            </a:r>
            <a:r>
              <a:rPr lang="ko-KR" altLang="en-US" dirty="0"/>
              <a:t> 때문에 평가 기준도 안정적으로 유지됩니다</a:t>
            </a:r>
            <a:r>
              <a:rPr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R" dirty="0"/>
              <a:t>(DQN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DDQN</a:t>
            </a:r>
            <a:r>
              <a:rPr kumimoji="1" lang="ko-KR" altLang="en-US" dirty="0"/>
              <a:t>의 차이는 가장 </a:t>
            </a:r>
            <a:r>
              <a:rPr kumimoji="1" lang="ko-KR" altLang="en-US" dirty="0" err="1"/>
              <a:t>좋아보이는</a:t>
            </a:r>
            <a:r>
              <a:rPr kumimoji="1" lang="ko-KR" altLang="en-US" dirty="0"/>
              <a:t> </a:t>
            </a:r>
            <a:r>
              <a:rPr lang="ko-KR" altLang="en-US" dirty="0"/>
              <a:t>행동을 선택하고 그 값을 그대로 평가하지만</a:t>
            </a:r>
            <a:r>
              <a:rPr lang="en-US" altLang="ko-KR" dirty="0"/>
              <a:t>, </a:t>
            </a:r>
            <a:r>
              <a:rPr lang="en" altLang="ko-Kore-KR" dirty="0"/>
              <a:t>DDQN</a:t>
            </a:r>
            <a:r>
              <a:rPr lang="ko-KR" altLang="en-US" dirty="0"/>
              <a:t>은 행동을 고르는 과정과 그 행동을 평가하는 과정을 분리해 과대평가 문제를 줄인 방법입니다</a:t>
            </a:r>
            <a:r>
              <a:rPr lang="en-US" altLang="ko-KR" dirty="0"/>
              <a:t>.)</a:t>
            </a:r>
            <a:r>
              <a:rPr lang="ko-KR" altLang="en-US" dirty="0"/>
              <a:t> </a:t>
            </a:r>
            <a:endParaRPr kumimoji="1" lang="en-US" altLang="ko-Kore-KR" dirty="0"/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637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BE96-D39D-5931-AF87-209DD75F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F482B4-596B-484B-B8CD-FB8521455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0AEA59-1B9E-F939-40FA-F8EAE9B25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촬영을 멈출 때는 한 가지 기준만 보는 것이 아니라 여러 조건을 함께 확인합니다</a:t>
            </a:r>
            <a:r>
              <a:rPr lang="en-US" altLang="ko-KR" dirty="0"/>
              <a:t>. </a:t>
            </a:r>
            <a:r>
              <a:rPr lang="ko-KR" altLang="en-US" dirty="0"/>
              <a:t>먼저 중앙 </a:t>
            </a:r>
            <a:r>
              <a:rPr lang="en" altLang="ko-Kore-KR" dirty="0"/>
              <a:t>k-space</a:t>
            </a:r>
            <a:r>
              <a:rPr lang="ko-KR" altLang="en-US" dirty="0" err="1"/>
              <a:t>처럼</a:t>
            </a:r>
            <a:r>
              <a:rPr lang="ko-KR" altLang="en-US" dirty="0"/>
              <a:t> 영상의 기본 구조를 만드는 필수 데이터가 확보되어야 합니다</a:t>
            </a:r>
            <a:r>
              <a:rPr lang="en-US" altLang="ko-KR" dirty="0"/>
              <a:t>. </a:t>
            </a:r>
            <a:r>
              <a:rPr lang="ko-KR" altLang="en-US" dirty="0" err="1"/>
              <a:t>그다음</a:t>
            </a:r>
            <a:r>
              <a:rPr lang="ko-KR" altLang="en-US" dirty="0"/>
              <a:t> 복원에 사용하지 않은 </a:t>
            </a:r>
            <a:r>
              <a:rPr lang="en" altLang="ko-Kore-KR" dirty="0"/>
              <a:t>k-space</a:t>
            </a:r>
            <a:r>
              <a:rPr lang="ko-KR" altLang="en-US" dirty="0"/>
              <a:t>에서 오차가 충분히 </a:t>
            </a:r>
            <a:r>
              <a:rPr lang="ko-KR" altLang="en-US" dirty="0" err="1"/>
              <a:t>낮은지</a:t>
            </a:r>
            <a:r>
              <a:rPr lang="ko-KR" altLang="en-US" dirty="0"/>
              <a:t> 보고</a:t>
            </a:r>
            <a:r>
              <a:rPr lang="en-US" altLang="ko-KR" dirty="0"/>
              <a:t>, </a:t>
            </a:r>
            <a:r>
              <a:rPr lang="ko-KR" altLang="en-US" dirty="0"/>
              <a:t>최근 몇 번의 추가 촬영에서도 오차가 거의 줄지 않는지 확인합니다</a:t>
            </a:r>
            <a:r>
              <a:rPr lang="en-US" altLang="ko-KR" dirty="0"/>
              <a:t>. </a:t>
            </a:r>
            <a:r>
              <a:rPr lang="ko-KR" altLang="en-US" dirty="0"/>
              <a:t>불확실도나 영상 변화량도 낮아지면 더 촬영해도 얻는 정보가 적다고 판단하고 촬영을 종료합니다</a:t>
            </a:r>
            <a:r>
              <a:rPr lang="en-US" altLang="ko-KR" dirty="0"/>
              <a:t>. </a:t>
            </a:r>
            <a:r>
              <a:rPr lang="ko-KR" altLang="en-US" dirty="0"/>
              <a:t>다만 한 번만 기준을 만족했다고 바로 멈추면 노이즈 때문에 너무 일찍 종료할 수 있으므로</a:t>
            </a:r>
            <a:r>
              <a:rPr lang="en-US" altLang="ko-KR" dirty="0"/>
              <a:t>, </a:t>
            </a:r>
            <a:r>
              <a:rPr lang="ko-KR" altLang="en-US" dirty="0"/>
              <a:t>예를 들어 </a:t>
            </a:r>
            <a:r>
              <a:rPr lang="en-US" altLang="ko-KR" dirty="0"/>
              <a:t>3</a:t>
            </a:r>
            <a:r>
              <a:rPr lang="ko-KR" altLang="en-US" dirty="0"/>
              <a:t>번 연속으로 만족했을 때 멈추도록 합니다</a:t>
            </a:r>
            <a:r>
              <a:rPr lang="en-US" altLang="ko-KR" dirty="0"/>
              <a:t>. </a:t>
            </a:r>
            <a:r>
              <a:rPr lang="ko-KR" altLang="en-US" dirty="0"/>
              <a:t>정지를 강화학습 </a:t>
            </a:r>
            <a:r>
              <a:rPr lang="en" altLang="ko-Kore-KR" dirty="0"/>
              <a:t>Agent</a:t>
            </a:r>
            <a:r>
              <a:rPr lang="ko-KR" altLang="en-US" dirty="0"/>
              <a:t>가 직접 선택하게 할 수도 있지만</a:t>
            </a:r>
            <a:r>
              <a:rPr lang="en-US" altLang="ko-KR" dirty="0"/>
              <a:t>, </a:t>
            </a:r>
            <a:r>
              <a:rPr lang="ko-KR" altLang="en-US" dirty="0"/>
              <a:t>그러면 촬영 비용을 피하려고 너무 일찍 멈출 수 있어 초기에는 규칙 기반 정지가 더 안정적입니다</a:t>
            </a:r>
            <a:r>
              <a:rPr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9ED85E-726F-9CBA-E566-06202A29D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773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A738-D5A0-105C-E371-0643D696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604386-BBDA-73B6-31C8-FC39A6514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AE399B-C74B-2559-A199-3641D5207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280001-4091-C734-AA8B-85B584029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52789-22A4-49C1-8D66-AABD55958F3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84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9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99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47667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ctr" defTabSz="914400" rtl="0" eaLnBrk="1" latinLnBrk="1" hangingPunct="1">
              <a:spcBef>
                <a:spcPct val="0"/>
              </a:spcBef>
              <a:buNone/>
              <a:defRPr lang="ko-KR" altLang="en-US" sz="2400" kern="1200" dirty="0">
                <a:ln w="1841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맑은 고딕" pitchFamily="50" charset="-127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251520" y="6472792"/>
            <a:ext cx="864096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58880" y="64910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i="0">
                <a:ln>
                  <a:noFill/>
                </a:ln>
                <a:solidFill>
                  <a:srgbClr val="002060"/>
                </a:solidFill>
                <a:latin typeface="Cambria" pitchFamily="18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BEE0A7-21ED-4AFC-8312-D4C6E39458AB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itchFamily="18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itchFamily="18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175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23940" y="1447800"/>
            <a:ext cx="7013575" cy="2133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6406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dt="0"/>
  <p:txStyles>
    <p:titleStyle>
      <a:lvl1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+mj-lt"/>
          <a:ea typeface="+mj-ea"/>
          <a:cs typeface="Geneva" charset="0"/>
        </a:defRPr>
      </a:lvl1pPr>
      <a:lvl2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2pPr>
      <a:lvl3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3pPr>
      <a:lvl4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4pPr>
      <a:lvl5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5pPr>
      <a:lvl6pPr marL="3429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6pPr>
      <a:lvl7pPr marL="6858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7pPr>
      <a:lvl8pPr marL="10287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8pPr>
      <a:lvl9pPr marL="13716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9pPr>
    </p:titleStyle>
    <p:bodyStyle>
      <a:lvl1pPr marL="172641" indent="-172641" algn="l" rtl="0" eaLnBrk="0" fontAlgn="base" hangingPunct="0">
        <a:lnSpc>
          <a:spcPts val="2025"/>
        </a:lnSpc>
        <a:spcBef>
          <a:spcPct val="0"/>
        </a:spcBef>
        <a:spcAft>
          <a:spcPts val="1050"/>
        </a:spcAft>
        <a:buClr>
          <a:srgbClr val="993333"/>
        </a:buClr>
        <a:buChar char="•"/>
        <a:defRPr sz="1725">
          <a:solidFill>
            <a:schemeClr val="tx1"/>
          </a:solidFill>
          <a:latin typeface="+mn-lt"/>
          <a:ea typeface="+mn-ea"/>
          <a:cs typeface="Geneva" charset="0"/>
        </a:defRPr>
      </a:lvl1pPr>
      <a:lvl2pPr marL="557213" indent="-214313" algn="l" rtl="0" eaLnBrk="0" fontAlgn="base" hangingPunct="0">
        <a:lnSpc>
          <a:spcPts val="2100"/>
        </a:lnSpc>
        <a:spcBef>
          <a:spcPct val="0"/>
        </a:spcBef>
        <a:spcAft>
          <a:spcPts val="1050"/>
        </a:spcAft>
        <a:buChar char="–"/>
        <a:defRPr sz="1725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993333"/>
        </a:buClr>
        <a:buChar char="•"/>
        <a:defRPr sz="1725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defRPr sz="1500">
          <a:solidFill>
            <a:schemeClr val="tx1"/>
          </a:solidFill>
          <a:latin typeface="Times" charset="0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23940" y="1447800"/>
            <a:ext cx="7013575" cy="2133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6406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+mj-lt"/>
          <a:ea typeface="+mj-ea"/>
          <a:cs typeface="Geneva" charset="0"/>
        </a:defRPr>
      </a:lvl1pPr>
      <a:lvl2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2pPr>
      <a:lvl3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3pPr>
      <a:lvl4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4pPr>
      <a:lvl5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  <a:cs typeface="Geneva" charset="0"/>
        </a:defRPr>
      </a:lvl5pPr>
      <a:lvl6pPr marL="3429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6pPr>
      <a:lvl7pPr marL="6858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7pPr>
      <a:lvl8pPr marL="10287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8pPr>
      <a:lvl9pPr marL="1371600"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550" b="1">
          <a:solidFill>
            <a:srgbClr val="993333"/>
          </a:solidFill>
          <a:latin typeface="Arial" charset="0"/>
          <a:ea typeface="Geneva" charset="0"/>
        </a:defRPr>
      </a:lvl9pPr>
    </p:titleStyle>
    <p:bodyStyle>
      <a:lvl1pPr marL="172641" indent="-172641" algn="l" rtl="0" eaLnBrk="0" fontAlgn="base" hangingPunct="0">
        <a:lnSpc>
          <a:spcPts val="2025"/>
        </a:lnSpc>
        <a:spcBef>
          <a:spcPct val="0"/>
        </a:spcBef>
        <a:spcAft>
          <a:spcPts val="1050"/>
        </a:spcAft>
        <a:buClr>
          <a:srgbClr val="993333"/>
        </a:buClr>
        <a:buChar char="•"/>
        <a:defRPr sz="1725">
          <a:solidFill>
            <a:schemeClr val="tx1"/>
          </a:solidFill>
          <a:latin typeface="+mn-lt"/>
          <a:ea typeface="+mn-ea"/>
          <a:cs typeface="Geneva" charset="0"/>
        </a:defRPr>
      </a:lvl1pPr>
      <a:lvl2pPr marL="557213" indent="-214313" algn="l" rtl="0" eaLnBrk="0" fontAlgn="base" hangingPunct="0">
        <a:lnSpc>
          <a:spcPts val="2100"/>
        </a:lnSpc>
        <a:spcBef>
          <a:spcPct val="0"/>
        </a:spcBef>
        <a:spcAft>
          <a:spcPts val="1050"/>
        </a:spcAft>
        <a:buChar char="–"/>
        <a:defRPr sz="1725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993333"/>
        </a:buClr>
        <a:buChar char="•"/>
        <a:defRPr sz="1725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defRPr sz="1500">
          <a:solidFill>
            <a:schemeClr val="tx1"/>
          </a:solidFill>
          <a:latin typeface="Times" charset="0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imes" charset="0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1EF91A-BEBB-4022-8DE7-9D7B567EF690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2026. 7. 14.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NANO STRUCTURED MATERIALS LAB.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BEE0A7-21ED-4AFC-8312-D4C6E39458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5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50198F3-C00D-4F66-465F-37BA28198BE9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ubtitle 3">
            <a:extLst>
              <a:ext uri="{FF2B5EF4-FFF2-40B4-BE49-F238E27FC236}">
                <a16:creationId xmlns:a16="http://schemas.microsoft.com/office/drawing/2014/main" id="{C17E0EDA-0C09-F1F3-FA12-80E1A7278895}"/>
              </a:ext>
            </a:extLst>
          </p:cNvPr>
          <p:cNvSpPr txBox="1">
            <a:spLocks/>
          </p:cNvSpPr>
          <p:nvPr/>
        </p:nvSpPr>
        <p:spPr bwMode="auto">
          <a:xfrm>
            <a:off x="0" y="3429000"/>
            <a:ext cx="9144000" cy="30636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ts val="2700"/>
              </a:lnSpc>
              <a:spcBef>
                <a:spcPct val="0"/>
              </a:spcBef>
              <a:spcAft>
                <a:spcPts val="1400"/>
              </a:spcAft>
              <a:buClr>
                <a:srgbClr val="993333"/>
              </a:buClr>
              <a:buNone/>
              <a:defRPr sz="2300">
                <a:solidFill>
                  <a:schemeClr val="tx1"/>
                </a:solidFill>
                <a:latin typeface="+mn-lt"/>
                <a:ea typeface="+mn-ea"/>
                <a:cs typeface="Geneva" charset="0"/>
              </a:defRPr>
            </a:lvl1pPr>
            <a:lvl2pPr marL="457200" indent="0"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ts val="1400"/>
              </a:spcAft>
              <a:buNone/>
              <a:defRPr sz="23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3333"/>
              </a:buClr>
              <a:buNone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2026.</a:t>
            </a:r>
            <a:r>
              <a:rPr lang="ko-KR" alt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0</a:t>
            </a:r>
            <a:r>
              <a:rPr lang="en-US" altLang="ko-KR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7</a:t>
            </a:r>
            <a:r>
              <a:rPr 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  <a:r>
              <a:rPr lang="ko-KR" alt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altLang="ko-KR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14</a:t>
            </a:r>
            <a:endParaRPr lang="en-US" sz="1800" kern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D3331-DB9D-91EE-3CA5-F7F3B1DC7CDB}"/>
              </a:ext>
            </a:extLst>
          </p:cNvPr>
          <p:cNvSpPr txBox="1"/>
          <p:nvPr/>
        </p:nvSpPr>
        <p:spPr>
          <a:xfrm>
            <a:off x="0" y="1338122"/>
            <a:ext cx="9144000" cy="123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3000" b="1" dirty="0">
                <a:solidFill>
                  <a:srgbClr val="002060"/>
                </a:solidFill>
                <a:latin typeface="Arial" panose="020B0604020202020204" pitchFamily="34" charset="0"/>
                <a:ea typeface="Pretendard Variable Medium" panose="02000003000000020004" pitchFamily="2" charset="-127"/>
                <a:cs typeface="Arial" panose="020B0604020202020204" pitchFamily="34" charset="0"/>
              </a:rPr>
              <a:t>Active MR k-space Sampling </a:t>
            </a:r>
          </a:p>
          <a:p>
            <a:pPr algn="ctr">
              <a:lnSpc>
                <a:spcPct val="130000"/>
              </a:lnSpc>
            </a:pPr>
            <a:r>
              <a:rPr lang="en-US" altLang="ko-KR" sz="3000" b="1" dirty="0">
                <a:solidFill>
                  <a:srgbClr val="002060"/>
                </a:solidFill>
                <a:latin typeface="Arial" panose="020B0604020202020204" pitchFamily="34" charset="0"/>
                <a:ea typeface="Pretendard Variable Medium" panose="02000003000000020004" pitchFamily="2" charset="-127"/>
                <a:cs typeface="Arial" panose="020B0604020202020204" pitchFamily="34" charset="0"/>
              </a:rPr>
              <a:t>with Reinforcement Learning</a:t>
            </a:r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476DC381-1067-09FE-E44B-7FDDA4C569C2}"/>
              </a:ext>
            </a:extLst>
          </p:cNvPr>
          <p:cNvSpPr txBox="1">
            <a:spLocks/>
          </p:cNvSpPr>
          <p:nvPr/>
        </p:nvSpPr>
        <p:spPr bwMode="auto">
          <a:xfrm>
            <a:off x="0" y="3985161"/>
            <a:ext cx="9144000" cy="30636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ts val="2700"/>
              </a:lnSpc>
              <a:spcBef>
                <a:spcPct val="0"/>
              </a:spcBef>
              <a:spcAft>
                <a:spcPts val="1400"/>
              </a:spcAft>
              <a:buClr>
                <a:srgbClr val="993333"/>
              </a:buClr>
              <a:buNone/>
              <a:defRPr sz="2300">
                <a:solidFill>
                  <a:schemeClr val="tx1"/>
                </a:solidFill>
                <a:latin typeface="+mn-lt"/>
                <a:ea typeface="+mn-ea"/>
                <a:cs typeface="Geneva" charset="0"/>
              </a:defRPr>
            </a:lvl1pPr>
            <a:lvl2pPr marL="457200" indent="0"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ts val="1400"/>
              </a:spcAft>
              <a:buNone/>
              <a:defRPr sz="23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3333"/>
              </a:buClr>
              <a:buNone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Times" charset="0"/>
                <a:ea typeface="+mn-ea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kern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Yun Seo Jang</a:t>
            </a:r>
          </a:p>
        </p:txBody>
      </p:sp>
    </p:spTree>
    <p:extLst>
      <p:ext uri="{BB962C8B-B14F-4D97-AF65-F5344CB8AC3E}">
        <p14:creationId xmlns:p14="http://schemas.microsoft.com/office/powerpoint/2010/main" val="369977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3544-6B2B-1B09-1530-AE661ED7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33D9C474-1D66-DEFA-A12A-0C9B9684A061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C1461219-1E2D-9C69-69FC-27F696786CEF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05A07974-7159-B242-B616-076530209A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AC2420-61F8-45DC-ED69-9C711CDF7512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MRI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Overview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E57F213-5403-A09F-2593-02628C8ED7B7}"/>
              </a:ext>
            </a:extLst>
          </p:cNvPr>
          <p:cNvGrpSpPr/>
          <p:nvPr/>
        </p:nvGrpSpPr>
        <p:grpSpPr>
          <a:xfrm>
            <a:off x="608430" y="1817960"/>
            <a:ext cx="2813691" cy="3222079"/>
            <a:chOff x="1294791" y="1208781"/>
            <a:chExt cx="2813691" cy="322207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140FAA-13A0-1B89-84C9-E85537A89109}"/>
                </a:ext>
              </a:extLst>
            </p:cNvPr>
            <p:cNvSpPr txBox="1"/>
            <p:nvPr/>
          </p:nvSpPr>
          <p:spPr>
            <a:xfrm>
              <a:off x="1787236" y="1208781"/>
              <a:ext cx="569254" cy="342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kumimoji="1" lang="en-US" altLang="ko-KR" sz="13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z</a:t>
              </a:r>
              <a:r>
                <a:rPr kumimoji="1" lang="ko-KR" altLang="en-US" sz="13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축</a:t>
              </a:r>
              <a:endPara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7995AAE-23D4-F980-CF0C-64F8B950AE0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95055" y="1620982"/>
              <a:ext cx="0" cy="16486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A5F628A1-34EF-D203-14F2-7D3783E85634}"/>
                </a:ext>
              </a:extLst>
            </p:cNvPr>
            <p:cNvCxnSpPr/>
            <p:nvPr/>
          </p:nvCxnSpPr>
          <p:spPr bwMode="auto">
            <a:xfrm>
              <a:off x="1995055" y="3269673"/>
              <a:ext cx="141316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46791747-4D00-48FC-5AEA-3956A39023BB}"/>
                </a:ext>
              </a:extLst>
            </p:cNvPr>
            <p:cNvCxnSpPr/>
            <p:nvPr/>
          </p:nvCxnSpPr>
          <p:spPr bwMode="auto">
            <a:xfrm flipH="1">
              <a:off x="1579418" y="3269673"/>
              <a:ext cx="415637" cy="7342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DEB19F-1039-75C1-CE5B-82AB6953D960}"/>
                </a:ext>
              </a:extLst>
            </p:cNvPr>
            <p:cNvSpPr txBox="1"/>
            <p:nvPr/>
          </p:nvSpPr>
          <p:spPr>
            <a:xfrm>
              <a:off x="3539228" y="3098280"/>
              <a:ext cx="569254" cy="342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kumimoji="1" lang="en-US" altLang="ko-KR" sz="13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x</a:t>
              </a:r>
              <a:r>
                <a:rPr kumimoji="1" lang="ko-KR" altLang="en-US" sz="13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축</a:t>
              </a:r>
              <a:endPara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FF18C2-5E82-BF0F-1B34-EA7310C0FABB}"/>
                </a:ext>
              </a:extLst>
            </p:cNvPr>
            <p:cNvSpPr txBox="1"/>
            <p:nvPr/>
          </p:nvSpPr>
          <p:spPr>
            <a:xfrm>
              <a:off x="1294791" y="4088074"/>
              <a:ext cx="569254" cy="342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kumimoji="1" lang="en-US" altLang="ko-KR" sz="13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y</a:t>
              </a:r>
              <a:r>
                <a:rPr kumimoji="1" lang="ko-KR" altLang="en-US" sz="1300" dirty="0">
                  <a:latin typeface="Pretendard Variable Light" panose="02000003000000020004" pitchFamily="2" charset="-127"/>
                  <a:ea typeface="Pretendard Variable Light" panose="02000003000000020004" pitchFamily="2" charset="-127"/>
                  <a:cs typeface="Pretendard Variable Light" panose="02000003000000020004" pitchFamily="2" charset="-127"/>
                </a:rPr>
                <a:t>축</a:t>
              </a:r>
              <a:endPara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7A86713-1F8A-7BD8-5B2E-CBA218FA4567}"/>
              </a:ext>
            </a:extLst>
          </p:cNvPr>
          <p:cNvSpPr txBox="1"/>
          <p:nvPr/>
        </p:nvSpPr>
        <p:spPr>
          <a:xfrm>
            <a:off x="662785" y="1269074"/>
            <a:ext cx="2536495" cy="34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ko-KR" sz="1300" b="1" dirty="0" err="1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x,y,z</a:t>
            </a:r>
            <a:r>
              <a:rPr kumimoji="1" lang="en-US" altLang="ko-KR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축 </a:t>
            </a:r>
            <a:r>
              <a:rPr kumimoji="1" lang="en-US" altLang="ko-KR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=</a:t>
            </a:r>
            <a:r>
              <a:rPr kumimoji="1" lang="ko-KR" altLang="en-US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몸 안의 실제 위치 </a:t>
            </a:r>
            <a:endParaRPr kumimoji="1" lang="en-US" altLang="ko-KR" sz="1300" b="1" dirty="0">
              <a:solidFill>
                <a:srgbClr val="5064AE"/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E406F-6385-3A7A-92D7-A25EA283803F}"/>
              </a:ext>
            </a:extLst>
          </p:cNvPr>
          <p:cNvSpPr txBox="1"/>
          <p:nvPr/>
        </p:nvSpPr>
        <p:spPr>
          <a:xfrm>
            <a:off x="3807768" y="1269074"/>
            <a:ext cx="2536495" cy="34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뇌 전체 </a:t>
            </a:r>
            <a:r>
              <a:rPr kumimoji="1" lang="en-US" altLang="ko-KR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=</a:t>
            </a:r>
            <a:r>
              <a:rPr kumimoji="1" lang="ko-KR" altLang="en-US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3D </a:t>
            </a:r>
            <a:r>
              <a:rPr kumimoji="1" lang="ko-KR" altLang="en-US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덩어리</a:t>
            </a:r>
            <a:endParaRPr kumimoji="1" lang="en-US" altLang="ko-KR" sz="1300" b="1" dirty="0">
              <a:solidFill>
                <a:srgbClr val="5064AE"/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6B5F0F-7934-B0C7-73E1-ABF09F4269DD}"/>
              </a:ext>
            </a:extLst>
          </p:cNvPr>
          <p:cNvSpPr/>
          <p:nvPr/>
        </p:nvSpPr>
        <p:spPr bwMode="auto">
          <a:xfrm>
            <a:off x="3934691" y="2853479"/>
            <a:ext cx="1330036" cy="346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ore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5</a:t>
            </a:r>
            <a:endParaRPr kumimoji="0" lang="ko-Kore-KR" altLang="en-US" sz="1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7F08C2B-754A-AEDE-170D-9F6E17F394BE}"/>
              </a:ext>
            </a:extLst>
          </p:cNvPr>
          <p:cNvSpPr/>
          <p:nvPr/>
        </p:nvSpPr>
        <p:spPr bwMode="auto">
          <a:xfrm>
            <a:off x="3934691" y="3200946"/>
            <a:ext cx="1330036" cy="346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ore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4</a:t>
            </a:r>
            <a:endParaRPr kumimoji="0" lang="ko-Kore-KR" altLang="en-US" sz="1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5550509-00CD-778E-655A-C66CEAC1AB90}"/>
              </a:ext>
            </a:extLst>
          </p:cNvPr>
          <p:cNvSpPr/>
          <p:nvPr/>
        </p:nvSpPr>
        <p:spPr bwMode="auto">
          <a:xfrm>
            <a:off x="3934691" y="3546298"/>
            <a:ext cx="1330036" cy="346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ore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3</a:t>
            </a:r>
            <a:endParaRPr kumimoji="0" lang="ko-Kore-KR" altLang="en-US" sz="1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323C1D0-BA6A-0B5F-1F9A-59C50D278F4B}"/>
              </a:ext>
            </a:extLst>
          </p:cNvPr>
          <p:cNvSpPr/>
          <p:nvPr/>
        </p:nvSpPr>
        <p:spPr bwMode="auto">
          <a:xfrm>
            <a:off x="3934691" y="3893765"/>
            <a:ext cx="1330036" cy="346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ore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2 </a:t>
            </a:r>
            <a:endParaRPr kumimoji="0" lang="ko-Kore-KR" altLang="en-US" sz="1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D1A522A-D5F9-6311-BE4A-7C37184D3707}"/>
              </a:ext>
            </a:extLst>
          </p:cNvPr>
          <p:cNvSpPr/>
          <p:nvPr/>
        </p:nvSpPr>
        <p:spPr bwMode="auto">
          <a:xfrm>
            <a:off x="3934691" y="4239678"/>
            <a:ext cx="1330036" cy="346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ore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1 </a:t>
            </a:r>
            <a:endParaRPr kumimoji="0" lang="ko-Kore-KR" altLang="en-US" sz="1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32CCC7C-BBD2-982B-77C2-4A8CCE686994}"/>
              </a:ext>
            </a:extLst>
          </p:cNvPr>
          <p:cNvCxnSpPr>
            <a:cxnSpLocks/>
          </p:cNvCxnSpPr>
          <p:nvPr/>
        </p:nvCxnSpPr>
        <p:spPr bwMode="auto">
          <a:xfrm flipV="1">
            <a:off x="4572000" y="2313290"/>
            <a:ext cx="0" cy="3052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8B103D-E0BD-3DE2-2B75-046407A1160C}"/>
              </a:ext>
            </a:extLst>
          </p:cNvPr>
          <p:cNvSpPr txBox="1"/>
          <p:nvPr/>
        </p:nvSpPr>
        <p:spPr>
          <a:xfrm>
            <a:off x="3807768" y="1870533"/>
            <a:ext cx="2536495" cy="34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축</a:t>
            </a: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방향으로 쌓여 있음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C5AC1E-FD9E-4713-81AF-9D4AB567C713}"/>
              </a:ext>
            </a:extLst>
          </p:cNvPr>
          <p:cNvSpPr txBox="1"/>
          <p:nvPr/>
        </p:nvSpPr>
        <p:spPr>
          <a:xfrm>
            <a:off x="6358029" y="1269074"/>
            <a:ext cx="2536495" cy="34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한 장의 </a:t>
            </a:r>
            <a:r>
              <a:rPr kumimoji="1" lang="en-US" altLang="ko-KR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</a:t>
            </a:r>
            <a:r>
              <a:rPr kumimoji="1" lang="ko-KR" altLang="en-US" sz="1300" b="1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300" b="1" dirty="0">
              <a:solidFill>
                <a:srgbClr val="5064AE"/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EFF0B14-E1EB-FB25-2810-F2DE191BE3A8}"/>
              </a:ext>
            </a:extLst>
          </p:cNvPr>
          <p:cNvCxnSpPr>
            <a:cxnSpLocks/>
          </p:cNvCxnSpPr>
          <p:nvPr/>
        </p:nvCxnSpPr>
        <p:spPr bwMode="auto">
          <a:xfrm flipV="1">
            <a:off x="6483927" y="2465899"/>
            <a:ext cx="0" cy="15843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51B5C57-A9EC-CA93-3377-AA5899A39E41}"/>
              </a:ext>
            </a:extLst>
          </p:cNvPr>
          <p:cNvCxnSpPr>
            <a:cxnSpLocks/>
          </p:cNvCxnSpPr>
          <p:nvPr/>
        </p:nvCxnSpPr>
        <p:spPr bwMode="auto">
          <a:xfrm>
            <a:off x="6483927" y="4053373"/>
            <a:ext cx="173181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2DD77FE-5BB4-CB61-64E4-99985D849305}"/>
              </a:ext>
            </a:extLst>
          </p:cNvPr>
          <p:cNvSpPr/>
          <p:nvPr/>
        </p:nvSpPr>
        <p:spPr bwMode="auto">
          <a:xfrm>
            <a:off x="6830291" y="2853479"/>
            <a:ext cx="1260764" cy="692819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ore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ore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</a:t>
            </a:r>
            <a:r>
              <a:rPr kumimoji="0" lang="en-US" altLang="ko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RI</a:t>
            </a:r>
            <a:r>
              <a:rPr kumimoji="0" lang="ko-KR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한 장 </a:t>
            </a:r>
            <a:endParaRPr kumimoji="0" lang="ko-Kore-KR" altLang="en-US" sz="1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3F325E-EC47-3B61-A8DA-7E18A7190D80}"/>
              </a:ext>
            </a:extLst>
          </p:cNvPr>
          <p:cNvSpPr txBox="1"/>
          <p:nvPr/>
        </p:nvSpPr>
        <p:spPr>
          <a:xfrm>
            <a:off x="6261037" y="2019220"/>
            <a:ext cx="569254" cy="34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y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축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ECDC7E-9230-C9BD-BAA1-3CDFFB45340E}"/>
              </a:ext>
            </a:extLst>
          </p:cNvPr>
          <p:cNvSpPr txBox="1"/>
          <p:nvPr/>
        </p:nvSpPr>
        <p:spPr>
          <a:xfrm>
            <a:off x="8271163" y="3867601"/>
            <a:ext cx="569254" cy="34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x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축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5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D5FDC-4E39-697C-E788-9D062FE9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89AE385E-4B15-BEE3-BEF4-2EEA661AA100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5174E3D1-FA0C-F379-3232-3CC7E145B2B3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A5E7B1D-05AE-D9F5-41D0-F780469EB0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E7D66C-87CD-642A-42F9-0B5E0AAE4BCC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Z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축에서 몇 개만 뽑는다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04F7FE0-1C14-3E05-C57D-480406145CEC}"/>
              </a:ext>
            </a:extLst>
          </p:cNvPr>
          <p:cNvSpPr txBox="1"/>
          <p:nvPr/>
        </p:nvSpPr>
        <p:spPr>
          <a:xfrm>
            <a:off x="1160969" y="1427187"/>
            <a:ext cx="2536495" cy="362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전체를 촘촘히 찍는 방식</a:t>
            </a:r>
            <a:endParaRPr kumimoji="1" lang="en-US" altLang="ko-KR" sz="1400" b="1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2DCA7-125E-84E1-8C84-6A975A6BBE4B}"/>
              </a:ext>
            </a:extLst>
          </p:cNvPr>
          <p:cNvSpPr txBox="1"/>
          <p:nvPr/>
        </p:nvSpPr>
        <p:spPr>
          <a:xfrm>
            <a:off x="773622" y="2082012"/>
            <a:ext cx="2536495" cy="3423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축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40000"/>
              </a:lnSpc>
            </a:pP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↑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10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───────── 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9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───────── 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8 ───────── 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7 ───────── 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6 ─────────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5 ───────── 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4 ───────── 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3 ───────── 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2 ───────── </a:t>
            </a:r>
          </a:p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1 ─────────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FD54A-3B63-ACFB-C7D5-6B2CDC64E0FC}"/>
              </a:ext>
            </a:extLst>
          </p:cNvPr>
          <p:cNvSpPr txBox="1"/>
          <p:nvPr/>
        </p:nvSpPr>
        <p:spPr>
          <a:xfrm>
            <a:off x="5082385" y="2082012"/>
            <a:ext cx="2536495" cy="3423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축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40000"/>
              </a:lnSpc>
            </a:pP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↑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10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안 찍음 </a:t>
            </a: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9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안 찍음 </a:t>
            </a: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8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찍음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7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안 찍음 </a:t>
            </a: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6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안 찍음 </a:t>
            </a: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5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찍음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4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안 찍음 </a:t>
            </a: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3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안 찍음 </a:t>
            </a: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2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찍음 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40000"/>
              </a:lnSpc>
            </a:pPr>
            <a:r>
              <a:rPr kumimoji="1" lang="en" altLang="ko-KR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1 ───────── </a:t>
            </a:r>
            <a:r>
              <a:rPr kumimoji="1" lang="ko-KR" altLang="en-US" sz="13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안 찍음</a:t>
            </a:r>
            <a:endParaRPr kumimoji="1" lang="en-US" altLang="ko-KR" sz="13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E2A05-BD1D-03B7-D733-26B32DC23CD0}"/>
              </a:ext>
            </a:extLst>
          </p:cNvPr>
          <p:cNvSpPr txBox="1"/>
          <p:nvPr/>
        </p:nvSpPr>
        <p:spPr>
          <a:xfrm>
            <a:off x="5345623" y="1427187"/>
            <a:ext cx="2536495" cy="362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일부 </a:t>
            </a:r>
            <a:r>
              <a:rPr kumimoji="1" lang="en-US" altLang="ko-KR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</a:t>
            </a:r>
            <a:r>
              <a:rPr kumimoji="1" lang="ko-KR" altLang="en-US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만 찍는 방식</a:t>
            </a:r>
            <a:endParaRPr kumimoji="1" lang="en-US" altLang="ko-KR" sz="1400" b="1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341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826BD-056C-4304-5317-DC024EF7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3B0A7AE7-A1CD-9C99-A819-8650A1E1036F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27355DC8-A4DE-5B72-CD2D-A7E6F64C40EF}"/>
              </a:ext>
            </a:extLst>
          </p:cNvPr>
          <p:cNvGrpSpPr/>
          <p:nvPr/>
        </p:nvGrpSpPr>
        <p:grpSpPr>
          <a:xfrm>
            <a:off x="566817" y="551364"/>
            <a:ext cx="5833974" cy="461665"/>
            <a:chOff x="566817" y="551364"/>
            <a:chExt cx="5833974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815E7C4-CA7E-EF08-46BD-2B4E3335BC7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AD194F-EF4B-FE29-3551-A93823CC9D7B}"/>
                </a:ext>
              </a:extLst>
            </p:cNvPr>
            <p:cNvSpPr txBox="1"/>
            <p:nvPr/>
          </p:nvSpPr>
          <p:spPr>
            <a:xfrm>
              <a:off x="649994" y="551364"/>
              <a:ext cx="57507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선택한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slice 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안에서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k-space</a:t>
              </a:r>
              <a:r>
                <a:rPr kumimoji="1" lang="ko-KR" altLang="en-US" sz="240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를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얼마나 찍을까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289150C-D961-30D4-5E2E-CA2E940857E0}"/>
              </a:ext>
            </a:extLst>
          </p:cNvPr>
          <p:cNvSpPr txBox="1"/>
          <p:nvPr/>
        </p:nvSpPr>
        <p:spPr>
          <a:xfrm>
            <a:off x="1127718" y="2001929"/>
            <a:ext cx="2536495" cy="362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전체를 다 찍는 경우</a:t>
            </a:r>
            <a:endParaRPr kumimoji="1" lang="en-US" altLang="ko-KR" sz="1400" b="1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EB6C1-8077-E285-EBE0-59880C52710D}"/>
              </a:ext>
            </a:extLst>
          </p:cNvPr>
          <p:cNvSpPr txBox="1"/>
          <p:nvPr/>
        </p:nvSpPr>
        <p:spPr>
          <a:xfrm>
            <a:off x="5479787" y="2001929"/>
            <a:ext cx="2536495" cy="362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일부만 찍는 경우</a:t>
            </a:r>
            <a:endParaRPr kumimoji="1" lang="en-US" altLang="ko-KR" sz="1400" b="1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298E6-7E35-2A5D-AB99-0D33B1940927}"/>
              </a:ext>
            </a:extLst>
          </p:cNvPr>
          <p:cNvSpPr txBox="1"/>
          <p:nvPr/>
        </p:nvSpPr>
        <p:spPr>
          <a:xfrm>
            <a:off x="566817" y="1258572"/>
            <a:ext cx="2536495" cy="362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선택한 </a:t>
            </a:r>
            <a:r>
              <a:rPr kumimoji="1" lang="en-US" altLang="ko-KR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 4</a:t>
            </a:r>
            <a:r>
              <a:rPr kumimoji="1" lang="ko-KR" altLang="en-US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의 </a:t>
            </a:r>
            <a:r>
              <a:rPr kumimoji="1" lang="en-US" altLang="ko-KR" sz="1400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</a:p>
        </p:txBody>
      </p:sp>
      <p:pic>
        <p:nvPicPr>
          <p:cNvPr id="12" name="그림 11" descr="스크린샷, 블랙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D8D202-30E3-19F2-76A7-2A31B0250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74" y="2491039"/>
            <a:ext cx="3129859" cy="2995448"/>
          </a:xfrm>
          <a:prstGeom prst="rect">
            <a:avLst/>
          </a:prstGeom>
        </p:spPr>
      </p:pic>
      <p:pic>
        <p:nvPicPr>
          <p:cNvPr id="14" name="그림 13" descr="스크린샷, 텍스트, 블랙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4298A3-F097-332E-A922-823A68430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769" y="2764158"/>
            <a:ext cx="3063428" cy="257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8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31415-9F10-5BFF-40C1-E28AC85E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D3FA89F2-6BB6-4791-989E-DE08FBBE9FF4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C783B39C-1F01-9624-DE15-D50167322C16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F1211C0F-47C9-387D-7F98-628EEAD84A2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E7CA22-D5D4-9EC5-F5A2-2F95546648D6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두개 방법 비교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5EC6DB-999A-D4C1-B236-3F8839ADD8EC}"/>
              </a:ext>
            </a:extLst>
          </p:cNvPr>
          <p:cNvSpPr txBox="1"/>
          <p:nvPr/>
        </p:nvSpPr>
        <p:spPr>
          <a:xfrm>
            <a:off x="649995" y="1636125"/>
            <a:ext cx="3558444" cy="90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줄인다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z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축에서 몇 장만 선택한다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예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장 찍을 것을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장만 찍음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408F5-97EC-8A26-CDD9-F9BF43630307}"/>
              </a:ext>
            </a:extLst>
          </p:cNvPr>
          <p:cNvSpPr txBox="1"/>
          <p:nvPr/>
        </p:nvSpPr>
        <p:spPr>
          <a:xfrm>
            <a:off x="4695904" y="1636125"/>
            <a:ext cx="4448096" cy="90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각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의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줄인다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한 장을 만들 때 필요한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line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을 일부만 찍는다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예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: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한 장당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100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줄 찍을 것을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줄만 찍음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AF18A-0DDF-2748-FAED-068240B9FC02}"/>
              </a:ext>
            </a:extLst>
          </p:cNvPr>
          <p:cNvSpPr txBox="1"/>
          <p:nvPr/>
        </p:nvSpPr>
        <p:spPr>
          <a:xfrm>
            <a:off x="2118904" y="3252105"/>
            <a:ext cx="490619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두 방법을 합친 빠른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전략</a:t>
            </a:r>
          </a:p>
          <a:p>
            <a:pPr algn="ctr"/>
            <a:endParaRPr kumimoji="1" lang="ko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/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전체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개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</a:t>
            </a:r>
          </a:p>
          <a:p>
            <a:pPr algn="ctr"/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↓</a:t>
            </a:r>
          </a:p>
          <a:p>
            <a:pPr algn="ctr"/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그중 중요한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10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개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만 먼저 선택</a:t>
            </a:r>
          </a:p>
          <a:p>
            <a:pPr algn="ctr"/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↓</a:t>
            </a:r>
          </a:p>
          <a:p>
            <a:pPr algn="ctr"/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각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slice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에서도 </a:t>
            </a:r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를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일부만 측정</a:t>
            </a:r>
          </a:p>
          <a:p>
            <a:pPr algn="ctr"/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↓</a:t>
            </a:r>
          </a:p>
          <a:p>
            <a:pPr algn="ctr"/>
            <a:r>
              <a:rPr kumimoji="1" lang="en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AI reconstruction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으로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부족한 정보를 복원</a:t>
            </a:r>
          </a:p>
          <a:p>
            <a:pPr algn="ctr"/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↓</a:t>
            </a:r>
          </a:p>
          <a:p>
            <a:pPr algn="ctr"/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의심 부위 주변만 추가 촬영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333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9693-6ADA-CAFC-6D31-F5B372E0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FF3D1B74-81EB-FD47-EEFE-CBCE7B546C1F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04C10F5B-5F43-3216-9898-420DDF236313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DDEA99F7-B6E1-DF6A-727E-67BA670AA1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C0091A-4575-7F7F-C93B-ABE84121E163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강화학습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Agent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활용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FE484B9-3D0C-3AB9-BF65-CD6F9DDE9A8F}"/>
              </a:ext>
            </a:extLst>
          </p:cNvPr>
          <p:cNvSpPr txBox="1"/>
          <p:nvPr/>
        </p:nvSpPr>
        <p:spPr>
          <a:xfrm>
            <a:off x="1336484" y="1657139"/>
            <a:ext cx="656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Pulseq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Sequence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설계 및 실행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E38C1-5639-6A22-69DC-1E35721BE988}"/>
              </a:ext>
            </a:extLst>
          </p:cNvPr>
          <p:cNvSpPr txBox="1"/>
          <p:nvPr/>
        </p:nvSpPr>
        <p:spPr>
          <a:xfrm>
            <a:off x="1336484" y="2292250"/>
            <a:ext cx="656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scanner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에서 일부 </a:t>
            </a:r>
            <a:r>
              <a:rPr kumimoji="1"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데이터 측정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90813-2AA4-344D-8089-4F4184A729BD}"/>
              </a:ext>
            </a:extLst>
          </p:cNvPr>
          <p:cNvSpPr txBox="1"/>
          <p:nvPr/>
        </p:nvSpPr>
        <p:spPr>
          <a:xfrm>
            <a:off x="1336484" y="2927361"/>
            <a:ext cx="656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Self-supervised AI 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 빠르게 복원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FEF881-15FA-5841-0307-28D7EDC6B634}"/>
              </a:ext>
            </a:extLst>
          </p:cNvPr>
          <p:cNvSpPr txBox="1"/>
          <p:nvPr/>
        </p:nvSpPr>
        <p:spPr>
          <a:xfrm>
            <a:off x="1336484" y="3562472"/>
            <a:ext cx="656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solidFill>
                  <a:srgbClr val="0000BA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강화학습 </a:t>
            </a:r>
            <a:r>
              <a:rPr kumimoji="1" lang="en-US" altLang="ko-KR" dirty="0">
                <a:solidFill>
                  <a:srgbClr val="0000BA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Agent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의 다음 촬영 위치 판단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019A08-535A-164C-92D7-D12A8CB7126A}"/>
              </a:ext>
            </a:extLst>
          </p:cNvPr>
          <p:cNvSpPr txBox="1"/>
          <p:nvPr/>
        </p:nvSpPr>
        <p:spPr>
          <a:xfrm>
            <a:off x="1336484" y="4197583"/>
            <a:ext cx="656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영상 품질 또는 진단 정보가 충분하면 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D6DF1A-9969-C5BC-BE00-109EEEF68218}"/>
              </a:ext>
            </a:extLst>
          </p:cNvPr>
          <p:cNvSpPr txBox="1"/>
          <p:nvPr/>
        </p:nvSpPr>
        <p:spPr>
          <a:xfrm>
            <a:off x="1336484" y="4832694"/>
            <a:ext cx="656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최종 </a:t>
            </a:r>
            <a:r>
              <a:rPr kumimoji="1" lang="en-US" altLang="ko-KR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MRI</a:t>
            </a:r>
            <a:r>
              <a:rPr kumimoji="1" lang="ko-KR" altLang="en-US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영상 생성</a:t>
            </a:r>
            <a:endParaRPr kumimoji="1" lang="en-US" altLang="ko-KR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674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732A-9683-1E8C-0962-51F75F0E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040EE3C4-30E7-3D69-2764-E018E7C297A7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38C73CFC-0FAF-1FB9-070D-99AF374D9BDD}"/>
              </a:ext>
            </a:extLst>
          </p:cNvPr>
          <p:cNvGrpSpPr/>
          <p:nvPr/>
        </p:nvGrpSpPr>
        <p:grpSpPr>
          <a:xfrm>
            <a:off x="566817" y="551364"/>
            <a:ext cx="3641622" cy="461665"/>
            <a:chOff x="566817" y="551364"/>
            <a:chExt cx="3641622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89EC872-C7EE-453E-A975-F2D8C635DDC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75FD50-F9D5-D1A5-7BAD-EE3E6A682577}"/>
                </a:ext>
              </a:extLst>
            </p:cNvPr>
            <p:cNvSpPr txBox="1"/>
            <p:nvPr/>
          </p:nvSpPr>
          <p:spPr>
            <a:xfrm>
              <a:off x="649995" y="551364"/>
              <a:ext cx="3558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강화학습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4BD4408E-1D6B-04DE-33F4-806183291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76" y="1386068"/>
            <a:ext cx="3582462" cy="1505902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42D647B-8754-6B72-9408-B513B229B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874738"/>
              </p:ext>
            </p:extLst>
          </p:nvPr>
        </p:nvGraphicFramePr>
        <p:xfrm>
          <a:off x="3985539" y="1339778"/>
          <a:ext cx="4908985" cy="1720198"/>
        </p:xfrm>
        <a:graphic>
          <a:graphicData uri="http://schemas.openxmlformats.org/drawingml/2006/table">
            <a:tbl>
              <a:tblPr/>
              <a:tblGrid>
                <a:gridCol w="1241880">
                  <a:extLst>
                    <a:ext uri="{9D8B030D-6E8A-4147-A177-3AD203B41FA5}">
                      <a16:colId xmlns:a16="http://schemas.microsoft.com/office/drawing/2014/main" val="2660977214"/>
                    </a:ext>
                  </a:extLst>
                </a:gridCol>
                <a:gridCol w="3667105">
                  <a:extLst>
                    <a:ext uri="{9D8B030D-6E8A-4147-A177-3AD203B41FA5}">
                      <a16:colId xmlns:a16="http://schemas.microsoft.com/office/drawing/2014/main" val="3824598029"/>
                    </a:ext>
                  </a:extLst>
                </a:gridCol>
              </a:tblGrid>
              <a:tr h="1538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강화학습 요소</a:t>
                      </a:r>
                    </a:p>
                  </a:txBody>
                  <a:tcPr marL="58858" marR="58858" marT="29429" marB="29429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MRI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에서의 의미</a:t>
                      </a:r>
                    </a:p>
                  </a:txBody>
                  <a:tcPr marL="58858" marR="58858" marT="29429" marB="2942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543369"/>
                  </a:ext>
                </a:extLst>
              </a:tr>
              <a:tr h="25403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Agent</a:t>
                      </a:r>
                    </a:p>
                  </a:txBody>
                  <a:tcPr marL="58858" marR="58858" marT="29429" marB="29429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다음에 측정할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line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또는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slice</a:t>
                      </a:r>
                      <a:r>
                        <a:rPr lang="ko-KR" altLang="en-US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를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 선택하는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AI</a:t>
                      </a:r>
                    </a:p>
                  </a:txBody>
                  <a:tcPr marL="58858" marR="58858" marT="29429" marB="2942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02113"/>
                  </a:ext>
                </a:extLst>
              </a:tr>
              <a:tr h="25403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Environment</a:t>
                      </a:r>
                    </a:p>
                  </a:txBody>
                  <a:tcPr marL="58858" marR="58858" marT="29429" marB="29429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MRI scanner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와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self-supervised reconstruction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과정</a:t>
                      </a:r>
                    </a:p>
                  </a:txBody>
                  <a:tcPr marL="58858" marR="58858" marT="29429" marB="2942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75674"/>
                  </a:ext>
                </a:extLst>
              </a:tr>
              <a:tr h="25403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State (</a:t>
                      </a:r>
                      <a:r>
                        <a:rPr lang="en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S_t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)</a:t>
                      </a:r>
                    </a:p>
                  </a:txBody>
                  <a:tcPr marL="58858" marR="58858" marT="29429" marB="29429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현재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mask,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현재 복원 영상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불확실도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남은 촬영시간</a:t>
                      </a:r>
                    </a:p>
                  </a:txBody>
                  <a:tcPr marL="58858" marR="58858" marT="29429" marB="2942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590475"/>
                  </a:ext>
                </a:extLst>
              </a:tr>
              <a:tr h="25403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Action (</a:t>
                      </a:r>
                      <a:r>
                        <a:rPr lang="en" sz="900" b="0" i="0" dirty="0" err="1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A_t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)</a:t>
                      </a:r>
                    </a:p>
                  </a:txBody>
                  <a:tcPr marL="58858" marR="58858" marT="29429" marB="29429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다음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 line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선택 또는 특정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z-slice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추가 촬영</a:t>
                      </a:r>
                    </a:p>
                  </a:txBody>
                  <a:tcPr marL="58858" marR="58858" marT="29429" marB="2942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376339"/>
                  </a:ext>
                </a:extLst>
              </a:tr>
              <a:tr h="25403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Reward (R_{t+1})</a:t>
                      </a:r>
                    </a:p>
                  </a:txBody>
                  <a:tcPr marL="58858" marR="58858" marT="29429" marB="29429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영상 품질 향상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불확실도 감소</a:t>
                      </a:r>
                      <a:r>
                        <a:rPr lang="en-US" altLang="ko-KR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촬영시간 증가에 대한 페널티</a:t>
                      </a:r>
                    </a:p>
                  </a:txBody>
                  <a:tcPr marL="58858" marR="58858" marT="29429" marB="2942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023482"/>
                  </a:ext>
                </a:extLst>
              </a:tr>
              <a:tr h="254030">
                <a:tc>
                  <a:txBody>
                    <a:bodyPr/>
                    <a:lstStyle/>
                    <a:p>
                      <a:pPr algn="ctr"/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Next state (S_{t+1})</a:t>
                      </a:r>
                    </a:p>
                  </a:txBody>
                  <a:tcPr marL="58858" marR="58858" marT="29429" marB="29429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추가 데이터를 반영한 새로운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k-space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와 개선된 </a:t>
                      </a:r>
                      <a:r>
                        <a:rPr lang="en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MRI </a:t>
                      </a:r>
                      <a:r>
                        <a:rPr lang="ko-KR" altLang="en-US" sz="900" b="0" i="0" dirty="0">
                          <a:latin typeface="Pretendard Variable Light" panose="02000003000000020004" pitchFamily="2" charset="-127"/>
                          <a:ea typeface="Pretendard Variable Light" panose="02000003000000020004" pitchFamily="2" charset="-127"/>
                          <a:cs typeface="Pretendard Variable Light" panose="02000003000000020004" pitchFamily="2" charset="-127"/>
                        </a:rPr>
                        <a:t>영상</a:t>
                      </a:r>
                    </a:p>
                  </a:txBody>
                  <a:tcPr marL="58858" marR="58858" marT="29429" marB="2942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77901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925A3F3E-97FE-81C4-8983-CA8D941DF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707" y="3569943"/>
            <a:ext cx="5080087" cy="224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48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27BA-9432-1A28-F6D3-DC0959C7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BA537992-08F5-3ED7-2EF0-FB9690DD22FC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4A269FD4-B1F4-5ED1-CEC0-D9B27EA5C53B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1008171A-F7FA-14CB-9DCB-E3A84C0A8BC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DF5E35-34E6-0EBF-8F41-E1AC1218491B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강화학습 알고리즘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–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Double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r>
                <a:rPr kumimoji="1" lang="en-US" altLang="ko-KR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DQN</a:t>
              </a:r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 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859328E-71CE-3E41-FAC0-7399871F2DC7}"/>
              </a:ext>
            </a:extLst>
          </p:cNvPr>
          <p:cNvSpPr txBox="1"/>
          <p:nvPr/>
        </p:nvSpPr>
        <p:spPr>
          <a:xfrm>
            <a:off x="530006" y="1264344"/>
            <a:ext cx="3898854" cy="34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이산공간 강화학습에서의 대표 알고리즘</a:t>
            </a:r>
            <a:endParaRPr lang="ko-Kore-KR" altLang="en-US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2425AF-14C7-A97D-4A8D-334976C8F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15" y="2099145"/>
            <a:ext cx="7159290" cy="265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10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91EC2-C5C6-9519-BAB0-6273B98B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C23CB1B5-5DB9-1D87-479B-949F862C6315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B97956EF-B7AA-4792-7604-40EE10658C95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B726439C-40A6-225E-E541-6908F467674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CDD514-470D-7CE1-77E4-8BED1173E9C6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규칙 기반 복합 정지 기준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D3FA1F-CA16-6DDB-7EEA-36A80838F299}"/>
              </a:ext>
            </a:extLst>
          </p:cNvPr>
          <p:cNvSpPr txBox="1"/>
          <p:nvPr/>
        </p:nvSpPr>
        <p:spPr>
          <a:xfrm>
            <a:off x="566817" y="1646787"/>
            <a:ext cx="4315421" cy="2963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1.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중앙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등 최소 필수 영역을 확보했는가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       ↓ Yes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2. Held-out k-space error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가 기준 이하인가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       ↓ Yes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3.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최근 여러 번의 추가 촬영에서 오차 감소가 거의 없는가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       ↓ Yes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4.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불확실도 또는 영상 변화량도 충분히 낮은가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       ↓ Yes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                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촬영 종료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57CF6-8967-F866-D5EB-38EB188AC02C}"/>
              </a:ext>
            </a:extLst>
          </p:cNvPr>
          <p:cNvSpPr txBox="1"/>
          <p:nvPr/>
        </p:nvSpPr>
        <p:spPr>
          <a:xfrm>
            <a:off x="5061852" y="2777866"/>
            <a:ext cx="4315421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최대 촬영 시간 또는 최대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line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수 도달하면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다른 조건과 관계 없이 종료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3CDEDD-12E0-E9AE-400E-94DE35874AC6}"/>
              </a:ext>
            </a:extLst>
          </p:cNvPr>
          <p:cNvSpPr txBox="1"/>
          <p:nvPr/>
        </p:nvSpPr>
        <p:spPr>
          <a:xfrm>
            <a:off x="4672237" y="2819640"/>
            <a:ext cx="779229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b="1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00FCB-FD9E-7ABD-FE72-6285403D8CF4}"/>
              </a:ext>
            </a:extLst>
          </p:cNvPr>
          <p:cNvSpPr txBox="1"/>
          <p:nvPr/>
        </p:nvSpPr>
        <p:spPr>
          <a:xfrm>
            <a:off x="1163874" y="5189280"/>
            <a:ext cx="6816253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한 번 기준을 만족했다고 즉시 멈추지 않고</a:t>
            </a:r>
            <a:r>
              <a:rPr kumimoji="1" lang="en-US" altLang="ko-KR" sz="1400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400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예를 들어 </a:t>
            </a:r>
            <a:r>
              <a:rPr kumimoji="1" lang="en-US" altLang="ko-KR" sz="1400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</a:t>
            </a:r>
            <a:r>
              <a:rPr kumimoji="1" lang="ko-KR" altLang="en-US" sz="1400" dirty="0">
                <a:solidFill>
                  <a:srgbClr val="5064AE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회 연속으로 만족할 때 종료하도록 해야 노이즈에 의해 너무 일찍 멈추는 것을 줄일 수 있음</a:t>
            </a:r>
            <a:endParaRPr kumimoji="1" lang="en-US" altLang="ko-KR" sz="1400" dirty="0">
              <a:solidFill>
                <a:srgbClr val="5064AE"/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235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FC2B-BD09-70FE-B958-3C894367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7">
            <a:extLst>
              <a:ext uri="{FF2B5EF4-FFF2-40B4-BE49-F238E27FC236}">
                <a16:creationId xmlns:a16="http://schemas.microsoft.com/office/drawing/2014/main" id="{2A779213-73F9-3927-006B-AEB366B446DF}"/>
              </a:ext>
            </a:extLst>
          </p:cNvPr>
          <p:cNvCxnSpPr/>
          <p:nvPr/>
        </p:nvCxnSpPr>
        <p:spPr>
          <a:xfrm>
            <a:off x="254524" y="6320359"/>
            <a:ext cx="86400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54D948B8-8EAD-D018-92F2-F9E9D69F997F}"/>
              </a:ext>
            </a:extLst>
          </p:cNvPr>
          <p:cNvGrpSpPr/>
          <p:nvPr/>
        </p:nvGrpSpPr>
        <p:grpSpPr>
          <a:xfrm>
            <a:off x="566817" y="551364"/>
            <a:ext cx="6076351" cy="461665"/>
            <a:chOff x="566817" y="551364"/>
            <a:chExt cx="4753368" cy="461665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7A8FB14E-D254-9665-03BC-A82C42CDF0B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817" y="594911"/>
              <a:ext cx="0" cy="37457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9AD9EC-F787-C6C7-C9F2-757B6362BC22}"/>
                </a:ext>
              </a:extLst>
            </p:cNvPr>
            <p:cNvSpPr txBox="1"/>
            <p:nvPr/>
          </p:nvSpPr>
          <p:spPr>
            <a:xfrm>
              <a:off x="649995" y="551364"/>
              <a:ext cx="4670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정지 기준</a:t>
              </a:r>
              <a:endParaRPr kumimoji="1" lang="en-US" altLang="ko-KR" sz="24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001A22-918A-C209-79AD-E7E1CF3726B4}"/>
              </a:ext>
            </a:extLst>
          </p:cNvPr>
          <p:cNvSpPr txBox="1"/>
          <p:nvPr/>
        </p:nvSpPr>
        <p:spPr>
          <a:xfrm>
            <a:off x="566817" y="1380582"/>
            <a:ext cx="832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held-out k-space error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사용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AD1C7-E729-D87C-F485-D3536F12B6CD}"/>
              </a:ext>
            </a:extLst>
          </p:cNvPr>
          <p:cNvSpPr txBox="1"/>
          <p:nvPr/>
        </p:nvSpPr>
        <p:spPr>
          <a:xfrm>
            <a:off x="566817" y="1791680"/>
            <a:ext cx="8327700" cy="1022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측정된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의 일부를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reconstruction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사용하지 않고 평가용으로 남겨둠 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├─ Reconstruction</a:t>
            </a:r>
            <a:r>
              <a:rPr kumimoji="1" lang="ko-KR" altLang="en-US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에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사용하는 데이터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└─ 평가용으로 숨겨두는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held-out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데이터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3296E-72AF-0D81-861E-DD5363ECC003}"/>
              </a:ext>
            </a:extLst>
          </p:cNvPr>
          <p:cNvSpPr txBox="1"/>
          <p:nvPr/>
        </p:nvSpPr>
        <p:spPr>
          <a:xfrm>
            <a:off x="566817" y="3112643"/>
            <a:ext cx="832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현재 복원 영상 </a:t>
            </a:r>
            <a:r>
              <a:rPr kumimoji="1" lang="en-US" altLang="ko-KR" sz="14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X</a:t>
            </a:r>
            <a:r>
              <a:rPr kumimoji="1" lang="en-US" altLang="ko-KR" sz="1400" baseline="-250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t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{hat}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을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Fourier transform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한 뒤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 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숨겨둔 실제 </a:t>
            </a:r>
            <a:r>
              <a:rPr kumimoji="1" lang="en-US" altLang="ko-KR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k-space</a:t>
            </a:r>
            <a:r>
              <a:rPr kumimoji="1" lang="ko-KR" altLang="en-US" sz="14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와 비교</a:t>
            </a:r>
            <a:endParaRPr kumimoji="1" lang="en-US" altLang="ko-KR" sz="14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EE336B8-141C-FE27-0FF5-955E41C1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3699284"/>
            <a:ext cx="5213350" cy="177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74530"/>
      </p:ext>
    </p:extLst>
  </p:cSld>
  <p:clrMapOvr>
    <a:masterClrMapping/>
  </p:clrMapOvr>
</p:sld>
</file>

<file path=ppt/theme/theme1.xml><?xml version="1.0" encoding="utf-8"?>
<a:theme xmlns:a="http://schemas.openxmlformats.org/drawingml/2006/main" name="12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993333"/>
      </a:accent2>
      <a:accent3>
        <a:srgbClr val="FFFFFF"/>
      </a:accent3>
      <a:accent4>
        <a:srgbClr val="000000"/>
      </a:accent4>
      <a:accent5>
        <a:srgbClr val="EBEBEB"/>
      </a:accent5>
      <a:accent6>
        <a:srgbClr val="8A2D2D"/>
      </a:accent6>
      <a:hlink>
        <a:srgbClr val="4D4D4D"/>
      </a:hlink>
      <a:folHlink>
        <a:srgbClr val="EAEAEA"/>
      </a:folHlink>
    </a:clrScheme>
    <a:fontScheme name="Blank Presentation">
      <a:majorFont>
        <a:latin typeface="Arial"/>
        <a:ea typeface="Geneva"/>
        <a:cs typeface=""/>
      </a:majorFont>
      <a:minorFont>
        <a:latin typeface="Times New Roman"/>
        <a:ea typeface="Genev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Genev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Geneva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2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993333"/>
      </a:accent2>
      <a:accent3>
        <a:srgbClr val="FFFFFF"/>
      </a:accent3>
      <a:accent4>
        <a:srgbClr val="000000"/>
      </a:accent4>
      <a:accent5>
        <a:srgbClr val="EBEBEB"/>
      </a:accent5>
      <a:accent6>
        <a:srgbClr val="8A2D2D"/>
      </a:accent6>
      <a:hlink>
        <a:srgbClr val="4D4D4D"/>
      </a:hlink>
      <a:folHlink>
        <a:srgbClr val="EAEAEA"/>
      </a:folHlink>
    </a:clrScheme>
    <a:fontScheme name="Blank Presentation">
      <a:majorFont>
        <a:latin typeface="Arial"/>
        <a:ea typeface="Geneva"/>
        <a:cs typeface=""/>
      </a:majorFont>
      <a:minorFont>
        <a:latin typeface="Times New Roman"/>
        <a:ea typeface="Genev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2400" b="0" i="0" u="none" strike="noStrike" cap="none" normalizeH="0" baseline="0">
            <a:solidFill>
              <a:schemeClr val="tx1"/>
            </a:solidFill>
            <a:effectLst/>
            <a:latin typeface="Times"/>
            <a:ea typeface="Geneva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2400" b="0" i="0" u="none" strike="noStrike" cap="none" normalizeH="0" baseline="0">
            <a:solidFill>
              <a:schemeClr val="tx1"/>
            </a:solidFill>
            <a:effectLst/>
            <a:latin typeface="Times"/>
            <a:ea typeface="Geneva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742950" indent="-742950">
          <a:lnSpc>
            <a:spcPts val="2800"/>
          </a:lnSpc>
          <a:defRPr sz="1600" dirty="0" smtClean="0">
            <a:ln w="3175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  <a:solidFill>
              <a:srgbClr val="0070C0"/>
            </a:solidFill>
            <a:cs typeface="Arial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41025</TotalTime>
  <Words>1169</Words>
  <Application>Microsoft Macintosh PowerPoint</Application>
  <PresentationFormat>화면 슬라이드 쇼(4:3)</PresentationFormat>
  <Paragraphs>136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맑은 고딕</vt:lpstr>
      <vt:lpstr>Pretendard Variable Light</vt:lpstr>
      <vt:lpstr>Pretendard Variable Medium</vt:lpstr>
      <vt:lpstr>Times</vt:lpstr>
      <vt:lpstr>Arial</vt:lpstr>
      <vt:lpstr>Cambria</vt:lpstr>
      <vt:lpstr>Times New Roman</vt:lpstr>
      <vt:lpstr>12_Blank Presentation</vt:lpstr>
      <vt:lpstr>12_Blank Presentation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Chae Woo Ryu</dc:creator>
  <cp:lastModifiedBy>장윤서</cp:lastModifiedBy>
  <cp:revision>799</cp:revision>
  <dcterms:created xsi:type="dcterms:W3CDTF">2023-01-05T01:00:43Z</dcterms:created>
  <dcterms:modified xsi:type="dcterms:W3CDTF">2026-07-14T06:25:25Z</dcterms:modified>
</cp:coreProperties>
</file>