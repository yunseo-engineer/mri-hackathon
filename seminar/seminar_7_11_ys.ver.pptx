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0" r:id="rId2"/>
    <p:sldMasterId id="2147483672" r:id="rId3"/>
  </p:sldMasterIdLst>
  <p:notesMasterIdLst>
    <p:notesMasterId r:id="rId22"/>
  </p:notesMasterIdLst>
  <p:handoutMasterIdLst>
    <p:handoutMasterId r:id="rId23"/>
  </p:handoutMasterIdLst>
  <p:sldIdLst>
    <p:sldId id="260" r:id="rId4"/>
    <p:sldId id="262" r:id="rId5"/>
    <p:sldId id="271" r:id="rId6"/>
    <p:sldId id="279" r:id="rId7"/>
    <p:sldId id="284" r:id="rId8"/>
    <p:sldId id="270" r:id="rId9"/>
    <p:sldId id="285" r:id="rId10"/>
    <p:sldId id="273" r:id="rId11"/>
    <p:sldId id="272" r:id="rId12"/>
    <p:sldId id="266" r:id="rId13"/>
    <p:sldId id="267" r:id="rId14"/>
    <p:sldId id="268" r:id="rId15"/>
    <p:sldId id="269" r:id="rId16"/>
    <p:sldId id="274" r:id="rId17"/>
    <p:sldId id="275" r:id="rId18"/>
    <p:sldId id="278" r:id="rId19"/>
    <p:sldId id="276" r:id="rId20"/>
    <p:sldId id="280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" id="{E543A5CD-4AF6-4244-8B8D-19C4EAC75729}">
          <p14:sldIdLst>
            <p14:sldId id="260"/>
            <p14:sldId id="262"/>
            <p14:sldId id="271"/>
            <p14:sldId id="279"/>
            <p14:sldId id="284"/>
            <p14:sldId id="270"/>
            <p14:sldId id="285"/>
            <p14:sldId id="273"/>
            <p14:sldId id="272"/>
            <p14:sldId id="266"/>
            <p14:sldId id="267"/>
            <p14:sldId id="268"/>
            <p14:sldId id="269"/>
            <p14:sldId id="274"/>
            <p14:sldId id="275"/>
            <p14:sldId id="278"/>
            <p14:sldId id="276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4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상윤 한" initials="상한" lastIdx="1" clrIdx="0">
    <p:extLst>
      <p:ext uri="{19B8F6BF-5375-455C-9EA6-DF929625EA0E}">
        <p15:presenceInfo xmlns:p15="http://schemas.microsoft.com/office/powerpoint/2012/main" userId="0e54a1fd688efae2" providerId="Windows Live"/>
      </p:ext>
    </p:extLst>
  </p:cmAuthor>
  <p:cmAuthor id="2" name="정재건" initials="정" lastIdx="1" clrIdx="1">
    <p:extLst>
      <p:ext uri="{19B8F6BF-5375-455C-9EA6-DF929625EA0E}">
        <p15:presenceInfo xmlns:p15="http://schemas.microsoft.com/office/powerpoint/2012/main" userId="S::worjs79@mail.hongik.ac.kr::fafb4440-df7b-4faf-8e55-54130aa093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A"/>
    <a:srgbClr val="5064AE"/>
    <a:srgbClr val="D9D9D9"/>
    <a:srgbClr val="6488A1"/>
    <a:srgbClr val="729CA6"/>
    <a:srgbClr val="C40F0F"/>
    <a:srgbClr val="6C93A4"/>
    <a:srgbClr val="FF8384"/>
    <a:srgbClr val="4FA7B1"/>
    <a:srgbClr val="ECB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94" autoAdjust="0"/>
    <p:restoredTop sz="96301" autoAdjust="0"/>
  </p:normalViewPr>
  <p:slideViewPr>
    <p:cSldViewPr snapToGrid="0">
      <p:cViewPr>
        <p:scale>
          <a:sx n="133" d="100"/>
          <a:sy n="133" d="100"/>
        </p:scale>
        <p:origin x="264" y="48"/>
      </p:cViewPr>
      <p:guideLst>
        <p:guide orient="horz" pos="640"/>
        <p:guide pos="3492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6A57B8-D2CD-38DB-DEA6-E93D944924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76D9A1-BEBC-B609-AE6D-D9FF99C6B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8F5C0-F2EC-41E2-9E5F-C6D82C57A469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849A59-D667-290B-E826-825006E6AC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9D652-9032-D5CA-B90A-1BDF3F47B6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1E59D-5AF1-4F6E-B98D-988FE4705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69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90155-FEE0-4101-94D7-86F05FA52159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52789-22A4-49C1-8D66-AABD55958F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44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일단 이 프로젝트의 핵심 목표를 진단에 필요한 영상 품질은 유지하면서 </a:t>
            </a:r>
            <a:r>
              <a:rPr kumimoji="1" lang="en-US" altLang="ko-Kore-KR" dirty="0"/>
              <a:t>M</a:t>
            </a:r>
            <a:r>
              <a:rPr kumimoji="1" lang="en-US" altLang="ko-KR" dirty="0"/>
              <a:t>RI </a:t>
            </a:r>
            <a:r>
              <a:rPr kumimoji="1" lang="ko-KR" altLang="en-US" dirty="0"/>
              <a:t>촬영 시간을 줄이는 것으로 판단했습니다</a:t>
            </a:r>
            <a:r>
              <a:rPr kumimoji="1" lang="en-US" altLang="ko-KR" dirty="0"/>
              <a:t>. </a:t>
            </a:r>
          </a:p>
          <a:p>
            <a:r>
              <a:rPr lang="en" altLang="ko-Kore-KR" dirty="0"/>
              <a:t>MRI </a:t>
            </a:r>
            <a:r>
              <a:rPr lang="ko-KR" altLang="en-US" dirty="0"/>
              <a:t>촬영시간이 짧아지면 여러 장점이 있습니다</a:t>
            </a:r>
            <a:r>
              <a:rPr lang="en-US" altLang="ko-KR" dirty="0"/>
              <a:t>. </a:t>
            </a:r>
            <a:r>
              <a:rPr lang="ko-KR" altLang="en-US" dirty="0"/>
              <a:t>먼저 환자가 오랫동안 움직이지 않고 누워 있어야 하는 부담이 줄어듭니다</a:t>
            </a:r>
            <a:r>
              <a:rPr lang="en-US" altLang="ko-KR" dirty="0"/>
              <a:t>. </a:t>
            </a:r>
            <a:r>
              <a:rPr lang="ko-KR" altLang="en-US" dirty="0"/>
              <a:t>촬영 중 발생하는 움직임도 줄어들기 때문에</a:t>
            </a:r>
            <a:r>
              <a:rPr lang="en-US" altLang="ko-KR" dirty="0"/>
              <a:t>, </a:t>
            </a:r>
            <a:r>
              <a:rPr lang="ko-KR" altLang="en-US" dirty="0"/>
              <a:t>움직임으로 인한 영상 왜곡을 줄일 수 있습니다</a:t>
            </a:r>
            <a:r>
              <a:rPr lang="en-US" altLang="ko-KR" dirty="0"/>
              <a:t>. </a:t>
            </a:r>
            <a:r>
              <a:rPr lang="ko-KR" altLang="en-US" dirty="0"/>
              <a:t>또한 한 명의 환자를 촬영하는 시간이 짧아지면 병원에서는 같은 시간 동안 더 많은 검사를 진행할 수 있어 전체적인 업무 효율도 높아집니다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촬영시간을 줄이는 과정에서 일반적으로 측정하는 </a:t>
            </a:r>
            <a:r>
              <a:rPr lang="en" altLang="ko-Kore-KR" dirty="0"/>
              <a:t>k-space </a:t>
            </a:r>
            <a:r>
              <a:rPr lang="ko-KR" altLang="en-US" dirty="0"/>
              <a:t>데이터의 양도 줄어들 수 있습니다</a:t>
            </a:r>
            <a:r>
              <a:rPr lang="en-US" altLang="ko-KR" dirty="0"/>
              <a:t>. </a:t>
            </a:r>
            <a:r>
              <a:rPr lang="ko-KR" altLang="en-US" dirty="0"/>
              <a:t>데이터가 부족해지면 신호 대비 잡음의 비율인 </a:t>
            </a:r>
            <a:r>
              <a:rPr lang="en" altLang="ko-Kore-KR" dirty="0"/>
              <a:t>SNR</a:t>
            </a:r>
            <a:r>
              <a:rPr lang="ko-KR" altLang="en-US" dirty="0"/>
              <a:t>이 낮아지고</a:t>
            </a:r>
            <a:r>
              <a:rPr lang="en-US" altLang="ko-KR" dirty="0"/>
              <a:t>, </a:t>
            </a:r>
            <a:r>
              <a:rPr lang="ko-KR" altLang="en-US" dirty="0"/>
              <a:t>영상에 왜곡이나 잔상이 나타날 가능성이 커집니다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촬영 방법에 따라서는 공간해상도나 촬영 범위</a:t>
            </a:r>
            <a:r>
              <a:rPr lang="en-US" altLang="ko-KR" dirty="0"/>
              <a:t>, </a:t>
            </a:r>
            <a:r>
              <a:rPr lang="ko-KR" altLang="en-US" dirty="0"/>
              <a:t>얻을 수 있는 영상 종류가 줄어들 수도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17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ore-KR" dirty="0"/>
              <a:t>MRI</a:t>
            </a:r>
            <a:r>
              <a:rPr lang="ko-KR" altLang="en-US" dirty="0"/>
              <a:t>에서는 영상을 바로 촬영하는 것이 아니라</a:t>
            </a:r>
            <a:r>
              <a:rPr lang="en-US" altLang="ko-KR" dirty="0"/>
              <a:t>, </a:t>
            </a:r>
            <a:r>
              <a:rPr lang="ko-KR" altLang="en-US" dirty="0"/>
              <a:t>먼저 </a:t>
            </a:r>
            <a:r>
              <a:rPr lang="en" altLang="ko-Kore-KR" b="1" dirty="0"/>
              <a:t>k-space</a:t>
            </a:r>
            <a:r>
              <a:rPr lang="ko-KR" altLang="en-US" b="1" dirty="0" err="1"/>
              <a:t>라고</a:t>
            </a:r>
            <a:r>
              <a:rPr lang="ko-KR" altLang="en-US" b="1" dirty="0"/>
              <a:t> 부르는 신호 공간에 데이터를 저장하고 </a:t>
            </a:r>
            <a:r>
              <a:rPr lang="ko-KR" altLang="en-US" dirty="0"/>
              <a:t>이후 이 </a:t>
            </a:r>
            <a:r>
              <a:rPr lang="en" altLang="ko-Kore-KR" dirty="0"/>
              <a:t>k-space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역푸리에</a:t>
            </a:r>
            <a:r>
              <a:rPr lang="ko-KR" altLang="en-US" dirty="0"/>
              <a:t> 변환하여 우리가 보는 </a:t>
            </a:r>
            <a:r>
              <a:rPr lang="en" altLang="ko-Kore-KR" dirty="0"/>
              <a:t>MRI </a:t>
            </a:r>
            <a:r>
              <a:rPr lang="ko-KR" altLang="en-US" dirty="0"/>
              <a:t>영상을 </a:t>
            </a:r>
            <a:r>
              <a:rPr lang="ko-Kore-KR" altLang="en-US" dirty="0"/>
              <a:t>만드는데요 </a:t>
            </a:r>
            <a:endParaRPr lang="en-US" altLang="ko-Kore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촬영시간을 줄이기 위해서는 전체 </a:t>
            </a:r>
            <a:r>
              <a:rPr lang="en" altLang="ko-Kore-KR" dirty="0"/>
              <a:t>k-space</a:t>
            </a:r>
            <a:r>
              <a:rPr lang="ko-KR" altLang="en-US" dirty="0" err="1"/>
              <a:t>를</a:t>
            </a:r>
            <a:r>
              <a:rPr lang="ko-KR" altLang="en-US" dirty="0"/>
              <a:t> 모두 측정하지 않고</a:t>
            </a:r>
            <a:r>
              <a:rPr lang="en-US" altLang="ko-KR" dirty="0"/>
              <a:t>, </a:t>
            </a:r>
            <a:r>
              <a:rPr lang="ko-KR" altLang="en-US" dirty="0"/>
              <a:t>일부 데이터만 측정하는 방법을 사용할 수 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dirty="0"/>
              <a:t>하지만 이렇게 측정하지 않은 데이터가 생기면 원래 위치에 있어야 할 구조가 다른 위치에 겹쳐보이거나 접혀 보이는 등 노이즈가 발생하게 됩니다</a:t>
            </a:r>
            <a:r>
              <a:rPr kumimoji="1" lang="en-US" altLang="ko-Kore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dirty="0"/>
              <a:t>그래서 </a:t>
            </a:r>
            <a:r>
              <a:rPr kumimoji="1" lang="en-US" altLang="ko-Kore-KR" dirty="0"/>
              <a:t>reconstruction </a:t>
            </a:r>
            <a:r>
              <a:rPr kumimoji="1" lang="ko-Kore-KR" altLang="en-US" dirty="0"/>
              <a:t>단계에서 남아 있는 데이터를 이용하여 왜곡을 줄이고 원래 영상에 최대한 가까운 영상을 복원하는 것입니다</a:t>
            </a:r>
            <a:r>
              <a:rPr kumimoji="1" lang="en-US" altLang="ko-Kore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13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K</a:t>
            </a:r>
            <a:r>
              <a:rPr kumimoji="1" lang="en-US" altLang="ko-KR" dirty="0"/>
              <a:t>-space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모두 충분히 측정하면 시간이 </a:t>
            </a:r>
            <a:r>
              <a:rPr kumimoji="1" lang="ko-KR" altLang="en-US" dirty="0" err="1"/>
              <a:t>오래걸리기</a:t>
            </a:r>
            <a:r>
              <a:rPr kumimoji="1" lang="ko-KR" altLang="en-US" dirty="0"/>
              <a:t> 때문에 촬영시간을 줄이기 위해 일부 데이터만 측정을 하는데 이때 문제가 되는 것은 측정하지 않은 부분의 값은 컴퓨터가 직접 알 수 없다는 점입니다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그래서 이를 보완하기 위해 </a:t>
            </a:r>
            <a:r>
              <a:rPr kumimoji="1" lang="en-US" altLang="ko-KR" dirty="0"/>
              <a:t>Parallel</a:t>
            </a:r>
            <a:r>
              <a:rPr kumimoji="1" lang="ko-KR" altLang="en-US" dirty="0"/>
              <a:t> </a:t>
            </a:r>
            <a:r>
              <a:rPr kumimoji="1" lang="en-US" altLang="ko-KR" dirty="0"/>
              <a:t>imaging</a:t>
            </a:r>
            <a:r>
              <a:rPr kumimoji="1" lang="ko-KR" altLang="en-US" dirty="0"/>
              <a:t>에서 </a:t>
            </a:r>
            <a:r>
              <a:rPr kumimoji="1" lang="ko-KR" altLang="en-US" dirty="0" err="1"/>
              <a:t>여러개의</a:t>
            </a:r>
            <a:r>
              <a:rPr kumimoji="1" lang="ko-KR" altLang="en-US" dirty="0"/>
              <a:t> 코일을 사용을 하는데요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각 코일은 환자의 몸에서 위치가 다르기 때문에 같은 부위를 보더라도 조금씩 다른 신호를 강하게 받는데 이를 </a:t>
            </a:r>
            <a:r>
              <a:rPr kumimoji="1" lang="en-US" altLang="ko-KR" dirty="0"/>
              <a:t>coil </a:t>
            </a:r>
            <a:r>
              <a:rPr kumimoji="1" lang="en-US" altLang="ko-KR" dirty="0" err="1"/>
              <a:t>senstitivity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lang="ko-KR" altLang="en-US" dirty="0"/>
              <a:t>여러 코일이 제공하는 서로 다른 정보를 이용하면 부족한 </a:t>
            </a:r>
            <a:r>
              <a:rPr lang="en" altLang="ko-Kore-KR" dirty="0"/>
              <a:t>k-space </a:t>
            </a:r>
            <a:r>
              <a:rPr lang="ko-KR" altLang="en-US" dirty="0"/>
              <a:t>데이터를 어느 정도 보완할 수 있습니다</a:t>
            </a:r>
            <a:r>
              <a:rPr lang="en-US" altLang="ko-KR" dirty="0"/>
              <a:t>. </a:t>
            </a:r>
            <a:r>
              <a:rPr lang="ko-KR" altLang="en-US" dirty="0"/>
              <a:t>하지만 그래도 측정하지 않은 정보를 완벽히 알 수는 없기 때문에</a:t>
            </a:r>
            <a:r>
              <a:rPr lang="en-US" altLang="ko-KR" dirty="0"/>
              <a:t>, </a:t>
            </a:r>
            <a:r>
              <a:rPr lang="en" altLang="ko-Kore-KR" dirty="0"/>
              <a:t>reconstruction </a:t>
            </a:r>
            <a:r>
              <a:rPr lang="ko-KR" altLang="en-US" dirty="0"/>
              <a:t>과정에서는 </a:t>
            </a:r>
            <a:r>
              <a:rPr lang="en" altLang="ko-Kore-KR" b="1" dirty="0"/>
              <a:t>prior</a:t>
            </a:r>
            <a:r>
              <a:rPr lang="en" altLang="ko-Kore-KR" dirty="0"/>
              <a:t>, </a:t>
            </a:r>
            <a:r>
              <a:rPr lang="ko-KR" altLang="en-US" dirty="0"/>
              <a:t>즉 사전 지식이나 예상을 사용합니다</a:t>
            </a:r>
            <a:r>
              <a:rPr lang="en-US" altLang="ko-KR" dirty="0"/>
              <a:t>. </a:t>
            </a:r>
            <a:r>
              <a:rPr lang="ko-KR" altLang="en-US" dirty="0"/>
              <a:t>예를 들어 “일반적인 </a:t>
            </a:r>
            <a:r>
              <a:rPr lang="en" altLang="ko-Kore-KR" dirty="0"/>
              <a:t>MRI </a:t>
            </a:r>
            <a:r>
              <a:rPr lang="ko-KR" altLang="en-US" dirty="0"/>
              <a:t>영상은 대체로 이런 구조와 특징을 </a:t>
            </a:r>
            <a:r>
              <a:rPr lang="ko-KR" altLang="en-US" dirty="0" err="1"/>
              <a:t>가진다”는</a:t>
            </a:r>
            <a:r>
              <a:rPr lang="ko-KR" altLang="en-US" dirty="0"/>
              <a:t> 정보를 이용해서</a:t>
            </a:r>
            <a:r>
              <a:rPr lang="en-US" altLang="ko-KR" dirty="0"/>
              <a:t>, </a:t>
            </a:r>
            <a:r>
              <a:rPr lang="ko-KR" altLang="en-US" dirty="0"/>
              <a:t>아무 값이나 채우는 것이 아니라 실제 </a:t>
            </a:r>
            <a:r>
              <a:rPr lang="en" altLang="ko-Kore-KR" dirty="0"/>
              <a:t>MRI </a:t>
            </a:r>
            <a:r>
              <a:rPr lang="ko-KR" altLang="en-US" dirty="0" err="1"/>
              <a:t>영상답게</a:t>
            </a:r>
            <a:r>
              <a:rPr lang="ko-KR" altLang="en-US" dirty="0"/>
              <a:t> 보이도록 이미지를 복원하는 것입니다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" altLang="ko-Kore-KR" dirty="0"/>
              <a:t>MRI reconstruction</a:t>
            </a:r>
            <a:r>
              <a:rPr lang="ko-KR" altLang="en-US" dirty="0"/>
              <a:t>은 단순히 빠진 데이터를 채우는 과정이 아니라</a:t>
            </a:r>
            <a:r>
              <a:rPr lang="en-US" altLang="ko-KR" dirty="0"/>
              <a:t>, </a:t>
            </a:r>
            <a:r>
              <a:rPr lang="ko-KR" altLang="en-US" dirty="0"/>
              <a:t>측정된 데이터와 </a:t>
            </a:r>
            <a:r>
              <a:rPr lang="en" altLang="ko-Kore-KR" dirty="0"/>
              <a:t>coil sensitivity, </a:t>
            </a:r>
            <a:r>
              <a:rPr lang="ko-KR" altLang="en-US" dirty="0"/>
              <a:t>그리고 </a:t>
            </a:r>
            <a:r>
              <a:rPr lang="en" altLang="ko-Kore-KR" dirty="0"/>
              <a:t>prior</a:t>
            </a:r>
            <a:r>
              <a:rPr lang="ko-KR" altLang="en-US" dirty="0" err="1"/>
              <a:t>를</a:t>
            </a:r>
            <a:r>
              <a:rPr lang="ko-KR" altLang="en-US" dirty="0"/>
              <a:t> 함께 이용해 가능한 한 실제에 가까운 영상을 만드는 과정이라고 볼 수 있습니다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16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한번</a:t>
            </a:r>
            <a:r>
              <a:rPr kumimoji="1" lang="ko-KR" altLang="en-US" dirty="0"/>
              <a:t> 정리를 해보면 인체 조직을 </a:t>
            </a:r>
            <a:r>
              <a:rPr kumimoji="1" lang="en-US" altLang="ko-KR" dirty="0" err="1"/>
              <a:t>Mri</a:t>
            </a:r>
            <a:r>
              <a:rPr kumimoji="1" lang="ko-KR" altLang="en-US" dirty="0"/>
              <a:t> </a:t>
            </a:r>
            <a:r>
              <a:rPr kumimoji="1" lang="en-US" altLang="ko-KR" dirty="0"/>
              <a:t>signal</a:t>
            </a:r>
            <a:r>
              <a:rPr kumimoji="1" lang="ko-KR" altLang="en-US" dirty="0"/>
              <a:t>로 바꾸고 이걸 </a:t>
            </a:r>
            <a:r>
              <a:rPr kumimoji="1" lang="en-US" altLang="ko-KR" dirty="0"/>
              <a:t>k-space</a:t>
            </a:r>
            <a:r>
              <a:rPr kumimoji="1" lang="ko-KR" altLang="en-US" dirty="0"/>
              <a:t>로 그 이후 </a:t>
            </a:r>
            <a:r>
              <a:rPr kumimoji="1" lang="en-US" altLang="ko-KR" dirty="0"/>
              <a:t>reconstruction </a:t>
            </a:r>
            <a:r>
              <a:rPr kumimoji="1" lang="ko-KR" altLang="en-US" dirty="0"/>
              <a:t>알고리즘을 사용해서 </a:t>
            </a:r>
            <a:r>
              <a:rPr kumimoji="1" lang="en-US" altLang="ko-KR" dirty="0"/>
              <a:t>image</a:t>
            </a:r>
            <a:r>
              <a:rPr kumimoji="1" lang="ko-KR" altLang="en-US" dirty="0"/>
              <a:t>로 바꾸는데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k-space</a:t>
            </a:r>
            <a:r>
              <a:rPr kumimoji="1" lang="ko-KR" altLang="en-US" dirty="0"/>
              <a:t> 데이터를 단순 푸리에 </a:t>
            </a:r>
            <a:r>
              <a:rPr kumimoji="1" lang="en-US" altLang="ko-KR" dirty="0"/>
              <a:t>transform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변환하면 </a:t>
            </a:r>
            <a:r>
              <a:rPr kumimoji="1" lang="ko-KR" altLang="en-US" dirty="0" err="1"/>
              <a:t>아티팩트가</a:t>
            </a:r>
            <a:r>
              <a:rPr kumimoji="1" lang="ko-KR" altLang="en-US" dirty="0"/>
              <a:t> 생깁니다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그래서 이 </a:t>
            </a:r>
            <a:r>
              <a:rPr kumimoji="1" lang="en-US" altLang="ko-KR" dirty="0"/>
              <a:t>reconstruction </a:t>
            </a:r>
            <a:r>
              <a:rPr kumimoji="1" lang="ko-KR" altLang="en-US" dirty="0"/>
              <a:t>알고리즘이 필요한데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전체적인 방법론은 전통적 방법과 딥러닝 방법으로 나뉩니다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ko-KR" altLang="en-US" dirty="0"/>
              <a:t>전통적 방법은 사람이 영상이나 데이터의 특성을 미리 수학적으로 정의해서 사용하는 방식이고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 err="1"/>
              <a:t>딥러닝은</a:t>
            </a:r>
            <a:r>
              <a:rPr kumimoji="1" lang="ko-KR" altLang="en-US" dirty="0"/>
              <a:t> 이러한 규칙을 사람이 정하는 대신 </a:t>
            </a:r>
            <a:r>
              <a:rPr kumimoji="1" lang="en-US" altLang="ko-KR" dirty="0"/>
              <a:t>neural network</a:t>
            </a:r>
            <a:r>
              <a:rPr kumimoji="1" lang="ko-KR" altLang="en-US" dirty="0"/>
              <a:t>가 데이터에서 복원에 필요한 패턴을 학습하는 방식입니다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많은 </a:t>
            </a:r>
            <a:r>
              <a:rPr kumimoji="1" lang="en-US" altLang="ko-KR" dirty="0" err="1"/>
              <a:t>mri</a:t>
            </a:r>
            <a:r>
              <a:rPr kumimoji="1" lang="ko-KR" altLang="en-US" dirty="0"/>
              <a:t> 데이터를 보면서 정상적인 영상의 구조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조직 경계의 형태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아티팩트의</a:t>
            </a:r>
            <a:r>
              <a:rPr kumimoji="1" lang="ko-KR" altLang="en-US" dirty="0"/>
              <a:t> 패턴을 스스로 학습을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ko-KR" altLang="en-US" dirty="0"/>
              <a:t>일단 이 프로젝트는 자기지도학습을 기본 학습 전략을 정하고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내부 네트워크를 </a:t>
            </a:r>
            <a:r>
              <a:rPr kumimoji="1" lang="en-US" altLang="ko-KR" dirty="0" err="1"/>
              <a:t>cnn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할지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transformer</a:t>
            </a:r>
            <a:r>
              <a:rPr kumimoji="1" lang="ko-KR" altLang="en-US" dirty="0"/>
              <a:t>로 할지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reconstruction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data-driven </a:t>
            </a:r>
            <a:r>
              <a:rPr kumimoji="1" lang="ko-KR" altLang="en-US" dirty="0"/>
              <a:t>방식으로 구성할지 </a:t>
            </a:r>
            <a:r>
              <a:rPr kumimoji="1" lang="en-US" altLang="ko-KR" dirty="0"/>
              <a:t>physics-guided</a:t>
            </a:r>
            <a:r>
              <a:rPr kumimoji="1" lang="ko-KR" altLang="en-US" dirty="0"/>
              <a:t>로 구성할지 등은 실험을 통해 정해야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그래서 베이스라인 모델을 구성하고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모델을 바꿔보거나 도메인을 확장해보거나 하나씩 조건을 바꾸면서 실험을 하고자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100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지난주에 언급을 했지만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이 자기지도학습이라는 것은 </a:t>
            </a:r>
            <a:r>
              <a:rPr lang="ko-KR" altLang="en-US" b="1" dirty="0"/>
              <a:t>별도로 준비된 정답 없이</a:t>
            </a:r>
            <a:r>
              <a:rPr lang="en-US" altLang="ko-KR" b="1" dirty="0"/>
              <a:t>, </a:t>
            </a:r>
            <a:r>
              <a:rPr lang="ko-KR" altLang="en-US" b="1" dirty="0"/>
              <a:t>가지고 있는 데이터 자체에서 정답 역할을 만들어 학습하는 방법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kumimoji="1" lang="ko-Kore-KR" altLang="en-US" dirty="0"/>
              <a:t>기존 지도학습의 한계가 있고 그를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637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0665-B42B-A443-822A-D93FFD94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1B998-289A-AFAC-BEAB-51DB6DA09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664EB-6884-7585-F01A-3829B769A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빠르게 촬영해서 일부만 측정된 </a:t>
            </a:r>
            <a:r>
              <a:rPr lang="en" altLang="ko-Kore-KR" b="1" dirty="0" err="1"/>
              <a:t>undersampled</a:t>
            </a:r>
            <a:r>
              <a:rPr lang="en" altLang="ko-Kore-KR" b="1" dirty="0"/>
              <a:t> k-space</a:t>
            </a:r>
            <a:r>
              <a:rPr lang="ko-KR" altLang="en-US" dirty="0"/>
              <a:t>가 있다고 가정하겠습니다</a:t>
            </a:r>
            <a:r>
              <a:rPr lang="en-US" altLang="ko-KR" dirty="0"/>
              <a:t>. </a:t>
            </a:r>
            <a:r>
              <a:rPr lang="ko-KR" altLang="en-US" dirty="0"/>
              <a:t>실제로 측정된 위치 전체를 오메가 </a:t>
            </a:r>
            <a:r>
              <a:rPr lang="ko-KR" altLang="en-US" dirty="0" err="1"/>
              <a:t>라고</a:t>
            </a:r>
            <a:r>
              <a:rPr lang="ko-KR" altLang="en-US" dirty="0"/>
              <a:t> 하면</a:t>
            </a:r>
            <a:r>
              <a:rPr lang="en-US" altLang="ko-KR" dirty="0"/>
              <a:t>, </a:t>
            </a:r>
            <a:r>
              <a:rPr lang="ko-KR" altLang="en-US" dirty="0"/>
              <a:t>자기지도학습에서는 이 데이터를 다시 두 부분으로 나눕니다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세타</a:t>
            </a:r>
            <a:r>
              <a:rPr lang="ko-KR" altLang="en-US" dirty="0"/>
              <a:t> 는 </a:t>
            </a:r>
            <a:r>
              <a:rPr lang="en" altLang="ko-Kore-KR" dirty="0"/>
              <a:t>network</a:t>
            </a:r>
            <a:r>
              <a:rPr lang="ko-KR" altLang="en-US" dirty="0"/>
              <a:t>가 </a:t>
            </a:r>
            <a:r>
              <a:rPr lang="en" altLang="ko-Kore-KR" dirty="0"/>
              <a:t>reconstruction</a:t>
            </a:r>
            <a:r>
              <a:rPr lang="ko-KR" altLang="en-US" dirty="0" err="1"/>
              <a:t>에</a:t>
            </a:r>
            <a:r>
              <a:rPr lang="ko-KR" altLang="en-US" dirty="0"/>
              <a:t> 사용하는 입력 데이터이고</a:t>
            </a:r>
            <a:r>
              <a:rPr lang="en-US" altLang="ko-KR" dirty="0"/>
              <a:t>, </a:t>
            </a:r>
            <a:r>
              <a:rPr lang="ko-KR" altLang="en-US" dirty="0"/>
              <a:t>람다 는 학습 중 정답 역할을 하도록 일부러 숨겨둔 데이터입니다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세타</a:t>
            </a:r>
            <a:r>
              <a:rPr lang="ko-KR" altLang="en-US" dirty="0"/>
              <a:t> 와 람다 는 서로 겹치지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" altLang="ko-Kore-KR" dirty="0"/>
              <a:t>network</a:t>
            </a:r>
            <a:r>
              <a:rPr lang="ko-KR" altLang="en-US" dirty="0"/>
              <a:t>에는 </a:t>
            </a:r>
            <a:r>
              <a:rPr lang="ko-KR" altLang="en-US" dirty="0" err="1"/>
              <a:t>세타위치의</a:t>
            </a:r>
            <a:r>
              <a:rPr lang="ko-KR" altLang="en-US" dirty="0"/>
              <a:t> </a:t>
            </a:r>
            <a:r>
              <a:rPr lang="en" altLang="ko-Kore-KR" dirty="0"/>
              <a:t>k-space</a:t>
            </a:r>
            <a:r>
              <a:rPr lang="ko-KR" altLang="en-US" dirty="0"/>
              <a:t>만 입력합니다</a:t>
            </a:r>
            <a:r>
              <a:rPr lang="en-US" altLang="ko-KR" dirty="0"/>
              <a:t>. </a:t>
            </a:r>
            <a:r>
              <a:rPr lang="en" altLang="ko-Kore-KR" dirty="0"/>
              <a:t>Network</a:t>
            </a:r>
            <a:r>
              <a:rPr lang="ko-KR" altLang="en-US" dirty="0"/>
              <a:t>는 이 데이터를 바탕으로 영상을 복원하고</a:t>
            </a:r>
            <a:r>
              <a:rPr lang="en-US" altLang="ko-KR" dirty="0"/>
              <a:t>, </a:t>
            </a:r>
            <a:r>
              <a:rPr lang="ko-KR" altLang="en-US" dirty="0"/>
              <a:t>복원된 영상을 다시 </a:t>
            </a:r>
            <a:r>
              <a:rPr lang="en" altLang="ko-Kore-KR" dirty="0"/>
              <a:t>k-space</a:t>
            </a:r>
            <a:r>
              <a:rPr lang="ko-KR" altLang="en-US" dirty="0"/>
              <a:t>로 변환합니다</a:t>
            </a:r>
            <a:r>
              <a:rPr lang="en-US" altLang="ko-KR" dirty="0"/>
              <a:t>. </a:t>
            </a:r>
            <a:r>
              <a:rPr lang="ko-KR" altLang="en-US" dirty="0" err="1"/>
              <a:t>그다음</a:t>
            </a:r>
            <a:r>
              <a:rPr lang="ko-KR" altLang="en-US" dirty="0"/>
              <a:t> 입력에서 제외했던 람다 위치의 값을 예측합니다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</a:t>
            </a:r>
            <a:r>
              <a:rPr lang="ko-KR" altLang="en-US" dirty="0" err="1"/>
              <a:t>예측값을</a:t>
            </a:r>
            <a:r>
              <a:rPr lang="ko-KR" altLang="en-US" dirty="0"/>
              <a:t> 실제로 측정된 람다 의 값과 비교하고</a:t>
            </a:r>
            <a:r>
              <a:rPr lang="en-US" altLang="ko-KR" dirty="0"/>
              <a:t>, </a:t>
            </a:r>
            <a:r>
              <a:rPr lang="ko-KR" altLang="en-US" dirty="0"/>
              <a:t>두 값의 차이가 줄어들도록 </a:t>
            </a:r>
            <a:r>
              <a:rPr lang="en" altLang="ko-Kore-KR" dirty="0"/>
              <a:t>network</a:t>
            </a:r>
            <a:r>
              <a:rPr lang="ko-KR" altLang="en-US" dirty="0" err="1"/>
              <a:t>를</a:t>
            </a:r>
            <a:r>
              <a:rPr lang="ko-KR" altLang="en-US" dirty="0"/>
              <a:t>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자기지도학습은 별도의 </a:t>
            </a:r>
            <a:r>
              <a:rPr lang="en" altLang="ko-Kore-KR" dirty="0"/>
              <a:t>fully sampled </a:t>
            </a:r>
            <a:r>
              <a:rPr lang="ko-KR" altLang="en-US" dirty="0"/>
              <a:t>정답 영상 없이도</a:t>
            </a:r>
            <a:r>
              <a:rPr lang="en-US" altLang="ko-KR" dirty="0"/>
              <a:t>, </a:t>
            </a:r>
            <a:r>
              <a:rPr lang="ko-KR" altLang="en-US" b="1" dirty="0"/>
              <a:t>현재 가지고 있는 측정 데이터의 일부를 정답처럼 활용해 </a:t>
            </a:r>
            <a:r>
              <a:rPr lang="en" altLang="ko-Kore-KR" b="1" dirty="0"/>
              <a:t>reconstruction </a:t>
            </a:r>
            <a:r>
              <a:rPr lang="ko-KR" altLang="en-US" b="1" dirty="0"/>
              <a:t>능력을 학습하는 방법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학습이 끝난 뒤 실제 영상을 복원할 때는 측정된 데이터 전체 오메가 </a:t>
            </a:r>
            <a:r>
              <a:rPr lang="ko-KR" altLang="en-US" dirty="0" err="1"/>
              <a:t>를</a:t>
            </a:r>
            <a:r>
              <a:rPr lang="ko-KR" altLang="en-US" dirty="0"/>
              <a:t> 사용합니다</a:t>
            </a:r>
            <a:r>
              <a:rPr lang="en-US" altLang="ko-KR" dirty="0"/>
              <a:t>.</a:t>
            </a:r>
          </a:p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5F16CB-C906-6B6A-3444-A3296CA63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70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dirty="0"/>
              <a:t>Zero-shot SSL</a:t>
            </a:r>
            <a:r>
              <a:rPr lang="ko-KR" altLang="en-US" dirty="0"/>
              <a:t> </a:t>
            </a:r>
            <a:r>
              <a:rPr lang="ko-KR" altLang="en-US" dirty="0" err="1"/>
              <a:t>방법이라는게</a:t>
            </a:r>
            <a:r>
              <a:rPr lang="ko-KR" altLang="en-US" dirty="0"/>
              <a:t> 있더라구요</a:t>
            </a:r>
            <a:r>
              <a:rPr lang="en-US" altLang="ko-KR" dirty="0"/>
              <a:t>.</a:t>
            </a:r>
            <a:r>
              <a:rPr lang="ko-KR" altLang="en-US" dirty="0"/>
              <a:t> 대규모 학습 데이터셋이나 </a:t>
            </a:r>
            <a:r>
              <a:rPr lang="en" altLang="ko-Kore-KR" dirty="0"/>
              <a:t>fully sampled </a:t>
            </a:r>
            <a:r>
              <a:rPr lang="ko-KR" altLang="en-US" dirty="0"/>
              <a:t>정답 데이터가 없어도</a:t>
            </a:r>
            <a:r>
              <a:rPr lang="en-US" altLang="ko-KR" dirty="0"/>
              <a:t>, </a:t>
            </a:r>
            <a:r>
              <a:rPr lang="ko-KR" altLang="en-US" dirty="0"/>
              <a:t>현재 확보한 한 번의 </a:t>
            </a:r>
            <a:r>
              <a:rPr lang="en" altLang="ko-Kore-KR" dirty="0"/>
              <a:t>scan</a:t>
            </a:r>
            <a:r>
              <a:rPr lang="ko-KR" altLang="en-US" dirty="0"/>
              <a:t>만으로 학습할 수 있다는 장점이 있습니다</a:t>
            </a:r>
            <a:r>
              <a:rPr lang="en-US" altLang="ko-KR" dirty="0"/>
              <a:t>. </a:t>
            </a:r>
            <a:r>
              <a:rPr lang="ko-KR" altLang="en-US" dirty="0"/>
              <a:t>따라서 현장에 갔을 때 실제로 사용할 수 있는 데이터가 충분하지 않다면</a:t>
            </a:r>
            <a:r>
              <a:rPr lang="en-US" altLang="ko-KR" dirty="0"/>
              <a:t>, </a:t>
            </a:r>
            <a:r>
              <a:rPr lang="ko-KR" altLang="en-US" dirty="0"/>
              <a:t>이러한 방법을 하나의 대안으로 적용해볼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어떤 방법이 가장 적절한지는 데이터가 어떤 형태로 수집되는지</a:t>
            </a:r>
            <a:r>
              <a:rPr lang="en-US" altLang="ko-KR" dirty="0"/>
              <a:t>, </a:t>
            </a:r>
            <a:r>
              <a:rPr lang="en" altLang="ko-Kore-KR" dirty="0"/>
              <a:t>fully sampled </a:t>
            </a:r>
            <a:r>
              <a:rPr lang="ko-KR" altLang="en-US" dirty="0"/>
              <a:t>데이터가 있는지</a:t>
            </a:r>
            <a:r>
              <a:rPr lang="en-US" altLang="ko-KR" dirty="0"/>
              <a:t>, </a:t>
            </a:r>
            <a:r>
              <a:rPr lang="en" altLang="ko-Kore-KR" dirty="0"/>
              <a:t>scan </a:t>
            </a:r>
            <a:r>
              <a:rPr lang="ko-KR" altLang="en-US" dirty="0"/>
              <a:t>수가 얼마나 되는지에 따라 달라질 수 있습니다</a:t>
            </a:r>
            <a:r>
              <a:rPr lang="en-US" altLang="ko-KR" dirty="0"/>
              <a:t>. </a:t>
            </a:r>
            <a:r>
              <a:rPr lang="ko-KR" altLang="en-US" dirty="0"/>
              <a:t>그래서 여러 </a:t>
            </a:r>
            <a:r>
              <a:rPr lang="en" altLang="ko-Kore-KR" dirty="0"/>
              <a:t>SSL </a:t>
            </a:r>
            <a:r>
              <a:rPr lang="ko-KR" altLang="en-US" dirty="0"/>
              <a:t>방법과 </a:t>
            </a:r>
            <a:r>
              <a:rPr lang="en" altLang="ko-Kore-KR" dirty="0"/>
              <a:t>scan-specific </a:t>
            </a:r>
            <a:r>
              <a:rPr lang="ko-KR" altLang="en-US" dirty="0"/>
              <a:t>방법을 미리 공부해두고</a:t>
            </a:r>
            <a:r>
              <a:rPr lang="en-US" altLang="ko-KR" dirty="0"/>
              <a:t>, </a:t>
            </a:r>
            <a:r>
              <a:rPr lang="ko-KR" altLang="en-US" dirty="0"/>
              <a:t>현장에서 실제 데이터 수집 조건을 확인한 뒤 그에 맞는 방법론을 선택할 계획입니다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961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프로젝트에서 개선을 시도할 수 있는 영역을 크게 네 단계로 나누어 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</a:t>
            </a:r>
            <a:r>
              <a:rPr lang="ko-KR" altLang="en-US" dirty="0" err="1"/>
              <a:t>번째는</a:t>
            </a:r>
            <a:r>
              <a:rPr lang="ko-KR" altLang="en-US" dirty="0"/>
              <a:t> </a:t>
            </a:r>
            <a:r>
              <a:rPr lang="ko-KR" altLang="en-US" b="1" dirty="0"/>
              <a:t>시퀀스와 데이터 획득 설계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어떤 </a:t>
            </a:r>
            <a:r>
              <a:rPr lang="en" altLang="ko-Kore-KR" dirty="0"/>
              <a:t>RF </a:t>
            </a:r>
            <a:r>
              <a:rPr lang="ko-KR" altLang="en-US" dirty="0"/>
              <a:t>신호와 </a:t>
            </a:r>
            <a:r>
              <a:rPr lang="en" altLang="ko-Kore-KR" dirty="0"/>
              <a:t>gradient</a:t>
            </a:r>
            <a:r>
              <a:rPr lang="ko-KR" altLang="en-US" dirty="0" err="1"/>
              <a:t>를</a:t>
            </a:r>
            <a:r>
              <a:rPr lang="ko-KR" altLang="en-US" dirty="0"/>
              <a:t> 사용하고</a:t>
            </a:r>
            <a:r>
              <a:rPr lang="en-US" altLang="ko-KR" dirty="0"/>
              <a:t>, </a:t>
            </a:r>
            <a:r>
              <a:rPr lang="en" altLang="ko-Kore-KR" dirty="0"/>
              <a:t>k-space</a:t>
            </a:r>
            <a:r>
              <a:rPr lang="ko-KR" altLang="en-US" dirty="0"/>
              <a:t>의 어느 부분을 어떤 순서로 측정할지를 결정하는 단계입니다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</a:t>
            </a:r>
            <a:r>
              <a:rPr lang="ko-KR" altLang="en-US" dirty="0" err="1"/>
              <a:t>번째는</a:t>
            </a:r>
            <a:r>
              <a:rPr lang="ko-KR" altLang="en-US" dirty="0"/>
              <a:t> </a:t>
            </a:r>
            <a:r>
              <a:rPr lang="en" altLang="ko-Kore-KR" b="1" dirty="0"/>
              <a:t>MRI </a:t>
            </a:r>
            <a:r>
              <a:rPr lang="ko-KR" altLang="en-US" b="1" dirty="0"/>
              <a:t>신호를 수집하고 </a:t>
            </a:r>
            <a:r>
              <a:rPr lang="en" altLang="ko-Kore-KR" b="1" dirty="0"/>
              <a:t>raw k-space</a:t>
            </a:r>
            <a:r>
              <a:rPr lang="ko-KR" altLang="en-US" b="1" dirty="0"/>
              <a:t>로 저장하는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여러 개의 수신 코일에서 들어오는 신호와 촬영 정보를 정확히 저장해야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 </a:t>
            </a:r>
            <a:r>
              <a:rPr lang="ko-KR" altLang="en-US" dirty="0" err="1"/>
              <a:t>번째는</a:t>
            </a:r>
            <a:r>
              <a:rPr lang="ko-KR" altLang="en-US" dirty="0"/>
              <a:t> </a:t>
            </a:r>
            <a:r>
              <a:rPr lang="en" altLang="ko-Kore-KR" b="1" dirty="0"/>
              <a:t>k-space </a:t>
            </a:r>
            <a:r>
              <a:rPr lang="ko-KR" altLang="en-US" b="1" dirty="0"/>
              <a:t>전처리와 보정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측정된 데이터에 포함된 잡음이나 위상 오류</a:t>
            </a:r>
            <a:r>
              <a:rPr lang="en-US" altLang="ko-KR" dirty="0"/>
              <a:t>, </a:t>
            </a:r>
            <a:r>
              <a:rPr lang="ko-KR" altLang="en-US" dirty="0"/>
              <a:t>코일 간 차이 등을 정리하여 재구성에 사용할 수 있는 형태로 만드는 과정입니다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네 </a:t>
            </a:r>
            <a:r>
              <a:rPr lang="ko-KR" altLang="en-US" dirty="0" err="1"/>
              <a:t>번째는</a:t>
            </a:r>
            <a:r>
              <a:rPr lang="ko-KR" altLang="en-US" dirty="0"/>
              <a:t> </a:t>
            </a:r>
            <a:r>
              <a:rPr lang="ko-KR" altLang="en-US" b="1" dirty="0"/>
              <a:t>영상 재구성과 품질 평가 단계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en" altLang="ko-Kore-KR" dirty="0"/>
              <a:t>AI</a:t>
            </a:r>
            <a:r>
              <a:rPr lang="ko-KR" altLang="en-US" dirty="0"/>
              <a:t>나 기존 재구성 방법을 사용해 영상을 복원하고</a:t>
            </a:r>
            <a:r>
              <a:rPr lang="en-US" altLang="ko-KR" dirty="0"/>
              <a:t>, </a:t>
            </a:r>
            <a:r>
              <a:rPr lang="ko-KR" altLang="en-US" dirty="0"/>
              <a:t>결과가 실제로 좋아졌는지 </a:t>
            </a:r>
            <a:r>
              <a:rPr lang="ko-Kore-KR" altLang="en-US" dirty="0"/>
              <a:t>평가하게 됩니다</a:t>
            </a:r>
            <a:r>
              <a:rPr lang="en-US" altLang="ko-Kore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354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각 파트에서 어떤 부분을 시도해볼 수 있는지 정리를 해봤는데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촬영 조건 설정의 경우 가속률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샘플링 패턴 등이 있습니다</a:t>
            </a:r>
            <a:r>
              <a:rPr kumimoji="1" lang="en-US" altLang="ko-Kore-KR" dirty="0"/>
              <a:t>. </a:t>
            </a:r>
          </a:p>
          <a:p>
            <a:r>
              <a:rPr kumimoji="1" lang="ko-Kore-KR" altLang="en-US" dirty="0"/>
              <a:t>여기서 샘플링 패턴은 같은 수의 </a:t>
            </a:r>
            <a:r>
              <a:rPr kumimoji="1" lang="en-US" altLang="ko-Kore-KR" dirty="0"/>
              <a:t>k-space</a:t>
            </a:r>
            <a:r>
              <a:rPr kumimoji="1" lang="ko-Kore-KR" altLang="en-US" dirty="0"/>
              <a:t>만 남기더라도 일정한 간격으로 선택할지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무작위로 선택할지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중심부를 더 남길지 어떤 패턴을 사용하느냐에 따라 영상에 발생하는 왜곡 형태와 </a:t>
            </a:r>
            <a:r>
              <a:rPr kumimoji="1" lang="en-US" altLang="ko-Kore-KR" dirty="0"/>
              <a:t>ai</a:t>
            </a:r>
            <a:r>
              <a:rPr kumimoji="1" lang="ko-Kore-KR" altLang="en-US" dirty="0"/>
              <a:t>의 복원 난도가 달라집니다</a:t>
            </a:r>
            <a:r>
              <a:rPr kumimoji="1" lang="en-US" altLang="ko-Kore-KR" dirty="0"/>
              <a:t>. </a:t>
            </a:r>
          </a:p>
          <a:p>
            <a:r>
              <a:rPr kumimoji="1" lang="ko-Kore-KR" altLang="en-US" dirty="0"/>
              <a:t>이제 보통 </a:t>
            </a:r>
            <a:r>
              <a:rPr kumimoji="1" lang="en-US" altLang="ko-Kore-KR" dirty="0"/>
              <a:t>k</a:t>
            </a:r>
            <a:r>
              <a:rPr kumimoji="1" lang="en-US" altLang="ko-KR" dirty="0"/>
              <a:t>-space </a:t>
            </a:r>
            <a:r>
              <a:rPr kumimoji="1" lang="ko-KR" altLang="en-US" dirty="0"/>
              <a:t>중심부에 </a:t>
            </a:r>
            <a:r>
              <a:rPr lang="ko-KR" altLang="en-US" dirty="0"/>
              <a:t>영상의 전체적인 형태와 </a:t>
            </a:r>
            <a:r>
              <a:rPr lang="en" altLang="ko-Kore-KR" dirty="0"/>
              <a:t>contrast</a:t>
            </a:r>
            <a:r>
              <a:rPr lang="ko-KR" altLang="en-US" dirty="0" err="1"/>
              <a:t>에</a:t>
            </a:r>
            <a:r>
              <a:rPr lang="ko-KR" altLang="en-US" dirty="0"/>
              <a:t> 중요한 정보가 많이 포함됩니다</a:t>
            </a:r>
            <a:r>
              <a:rPr lang="en-US" altLang="ko-KR" dirty="0"/>
              <a:t>. </a:t>
            </a:r>
            <a:r>
              <a:rPr lang="ko-KR" altLang="en-US" dirty="0"/>
              <a:t>따라서 중심부를 어느 정도 보존할 것인지도 중요한 조건입니다</a:t>
            </a:r>
            <a:r>
              <a:rPr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그 외 </a:t>
            </a:r>
            <a:r>
              <a:rPr kumimoji="1" lang="en-US" altLang="ko-Kore-KR" dirty="0"/>
              <a:t>N</a:t>
            </a:r>
            <a:r>
              <a:rPr kumimoji="1" lang="en-US" altLang="ko-KR" dirty="0"/>
              <a:t>ex, </a:t>
            </a:r>
            <a:r>
              <a:rPr kumimoji="1" lang="en-US" altLang="ko-KR" dirty="0" err="1"/>
              <a:t>nsa</a:t>
            </a:r>
            <a:r>
              <a:rPr kumimoji="1" lang="en-US" altLang="ko-KR" dirty="0"/>
              <a:t>, matrix </a:t>
            </a:r>
            <a:r>
              <a:rPr kumimoji="1" lang="ko-KR" altLang="en-US" dirty="0"/>
              <a:t>등의 다른 요소들이 있다고 하는데 이 부분에 대해서는 </a:t>
            </a:r>
            <a:r>
              <a:rPr kumimoji="1" lang="en-US" altLang="ko-KR" dirty="0"/>
              <a:t>instructor</a:t>
            </a:r>
            <a:r>
              <a:rPr kumimoji="1" lang="ko-KR" altLang="en-US" dirty="0"/>
              <a:t>의 도움을 받아야 할 것 같습니다</a:t>
            </a:r>
            <a:r>
              <a:rPr kumimoji="1" lang="en-US" altLang="ko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34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데이터 정규화</a:t>
            </a:r>
            <a:r>
              <a:rPr kumimoji="1" lang="en-US" altLang="ko-Kore-KR" dirty="0"/>
              <a:t> </a:t>
            </a:r>
            <a:r>
              <a:rPr kumimoji="1" lang="en-US" altLang="ko-KR" dirty="0"/>
              <a:t>/ </a:t>
            </a:r>
            <a:r>
              <a:rPr kumimoji="1" lang="ko-KR" altLang="en-US" dirty="0"/>
              <a:t>코일 채널을 주요 정보가 담긴 더 적은 수의 채널로 줄이는 방법 등 이런 </a:t>
            </a:r>
            <a:r>
              <a:rPr kumimoji="1" lang="en-US" altLang="ko-KR" dirty="0"/>
              <a:t>k-space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하는 방향들도 실험을 해볼 수 있고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69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전처리가 완료된 </a:t>
            </a:r>
            <a:r>
              <a:rPr lang="en" altLang="ko-Kore-KR" dirty="0"/>
              <a:t>k-space</a:t>
            </a:r>
            <a:r>
              <a:rPr lang="ko-KR" altLang="en-US" dirty="0" err="1"/>
              <a:t>를</a:t>
            </a:r>
            <a:r>
              <a:rPr lang="ko-KR" altLang="en-US" dirty="0"/>
              <a:t> 이용해 영상을 만드는 단계가 </a:t>
            </a:r>
            <a:r>
              <a:rPr lang="en" altLang="ko-Kore-KR" dirty="0"/>
              <a:t>reconstruction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kumimoji="1" lang="ko-Kore-KR" altLang="en-US" dirty="0"/>
              <a:t>여러 방법이 있지만 이번 프로젝트에서는 프로젝트 목표에 맞게 자기 지도학습을 진행할 것이고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이걸 중심으로 다른 방법과 비교하는 것도 고려해볼 수 있을 것 같습니다</a:t>
            </a:r>
            <a:r>
              <a:rPr kumimoji="1" lang="en-US" altLang="ko-Kore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845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자기지도학습 방법을 사용하더라도 모델을 어떻게 </a:t>
            </a:r>
            <a:r>
              <a:rPr lang="ko-KR" altLang="en-US" dirty="0" err="1"/>
              <a:t>구성하느냐에</a:t>
            </a:r>
            <a:r>
              <a:rPr lang="ko-KR" altLang="en-US" dirty="0"/>
              <a:t> 따라 결과가 달라집니다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" altLang="ko-Kore-KR" dirty="0"/>
              <a:t>U-Net, unrolled network, transformer</a:t>
            </a:r>
            <a:r>
              <a:rPr lang="ko-KR" altLang="en-US" dirty="0"/>
              <a:t>와 같은 여러 </a:t>
            </a:r>
            <a:r>
              <a:rPr lang="en" altLang="ko-Kore-KR" dirty="0"/>
              <a:t>network </a:t>
            </a:r>
            <a:r>
              <a:rPr lang="ko-KR" altLang="en-US" dirty="0"/>
              <a:t>구조를 비교할 수 있습니다</a:t>
            </a:r>
            <a:r>
              <a:rPr lang="en-US" altLang="ko-KR" dirty="0"/>
              <a:t>. </a:t>
            </a:r>
          </a:p>
          <a:p>
            <a:r>
              <a:rPr kumimoji="1" lang="en-US" altLang="ko-Kore-KR" dirty="0"/>
              <a:t>Loss function, </a:t>
            </a:r>
            <a:r>
              <a:rPr kumimoji="1" lang="ko-Kore-KR" altLang="en-US" dirty="0"/>
              <a:t>멀티 코일 활용 방식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마스크별 학습 등 데이터에 회전이나 </a:t>
            </a:r>
            <a:r>
              <a:rPr kumimoji="1" lang="en-US" altLang="ko-Kore-KR" dirty="0"/>
              <a:t>n</a:t>
            </a:r>
            <a:r>
              <a:rPr kumimoji="1" lang="en-US" altLang="ko-KR" dirty="0"/>
              <a:t>oise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추가하는 증강 방법 등도 고려를 해볼 수 있습니다</a:t>
            </a:r>
            <a:r>
              <a:rPr kumimoji="1" lang="en-US" altLang="ko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786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이제</a:t>
            </a:r>
            <a:r>
              <a:rPr kumimoji="1" lang="ko-KR" altLang="en-US" dirty="0"/>
              <a:t> 가서 시도해볼 수 있는 것들을 </a:t>
            </a:r>
            <a:r>
              <a:rPr kumimoji="1" lang="ko-KR" altLang="en-US" dirty="0" err="1"/>
              <a:t>러프하게</a:t>
            </a:r>
            <a:r>
              <a:rPr kumimoji="1" lang="ko-KR" altLang="en-US" dirty="0"/>
              <a:t> 정리를 해봤는데요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팀원분들이랑</a:t>
            </a:r>
            <a:r>
              <a:rPr kumimoji="1" lang="ko-KR" altLang="en-US" dirty="0"/>
              <a:t> 얘기를 더 </a:t>
            </a:r>
            <a:r>
              <a:rPr kumimoji="1" lang="ko-KR" altLang="en-US" dirty="0" err="1"/>
              <a:t>해봐야겠지만</a:t>
            </a:r>
            <a:r>
              <a:rPr kumimoji="1" lang="ko-KR" altLang="en-US" dirty="0"/>
              <a:t> 제 고민을 그냥 공유를 해보겠습니다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대부분의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연구는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fully sampled 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 일부 데이터를 컴퓨터로 삭제하여 가속 촬영을 모의하는데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실제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연구는 처음부터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만 획득하고  실제 촬영에는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noise,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움직임 등 다양한 오차가 추가됩니다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같은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방법을 두 조건에 적용해서 영상 품질 차이를 비교하면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모의 실험 결과가 실제 가속 </a:t>
            </a:r>
            <a:r>
              <a:rPr kumimoji="1"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찰영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성능을 얼마나 잘 반영하는지 확인해볼 수 </a:t>
            </a:r>
            <a:r>
              <a:rPr kumimoji="1"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있을것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같습니다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862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 아이디어는 실제 촬영에서 어떤 </a:t>
            </a:r>
            <a:r>
              <a:rPr lang="en" altLang="ko-Kore-KR" dirty="0"/>
              <a:t>k-space</a:t>
            </a:r>
            <a:r>
              <a:rPr lang="ko-KR" altLang="en-US" dirty="0" err="1"/>
              <a:t>를</a:t>
            </a:r>
            <a:r>
              <a:rPr lang="ko-KR" altLang="en-US" dirty="0"/>
              <a:t> 측정할지 결정하는 </a:t>
            </a:r>
            <a:r>
              <a:rPr lang="en" altLang="ko-Kore-KR" dirty="0"/>
              <a:t>sampling pattern</a:t>
            </a:r>
            <a:r>
              <a:rPr lang="ko-KR" altLang="en-US" dirty="0"/>
              <a:t>과</a:t>
            </a:r>
            <a:r>
              <a:rPr lang="en-US" altLang="ko-KR" dirty="0"/>
              <a:t>, </a:t>
            </a:r>
            <a:r>
              <a:rPr lang="ko-KR" altLang="en-US" dirty="0"/>
              <a:t>측정된 데이터를 </a:t>
            </a:r>
            <a:r>
              <a:rPr lang="en" altLang="ko-Kore-KR" dirty="0"/>
              <a:t>SSL </a:t>
            </a:r>
            <a:r>
              <a:rPr lang="ko-KR" altLang="en-US" dirty="0"/>
              <a:t>학습용 입력</a:t>
            </a:r>
            <a:r>
              <a:rPr lang="en-US" altLang="ko-KR" dirty="0"/>
              <a:t>·</a:t>
            </a:r>
            <a:r>
              <a:rPr lang="ko-KR" altLang="en-US" dirty="0"/>
              <a:t>정답</a:t>
            </a:r>
            <a:r>
              <a:rPr lang="en-US" altLang="ko-KR" dirty="0"/>
              <a:t>·</a:t>
            </a:r>
            <a:r>
              <a:rPr lang="ko-KR" altLang="en-US" dirty="0"/>
              <a:t>검증 데이터로 어떻게 나눌지를 함께 실험해보는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kumimoji="1" lang="ko-KR" altLang="en-US" dirty="0"/>
              <a:t>보통 </a:t>
            </a:r>
            <a:r>
              <a:rPr kumimoji="1" lang="en-US" altLang="ko-KR" dirty="0" err="1"/>
              <a:t>mri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찍을때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k-space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모두 측정하지 않고 일부만 선택을 하는데 일정한 간격으로 건너뛰는 방식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무작위 샘플링</a:t>
            </a:r>
            <a:r>
              <a:rPr kumimoji="1" lang="en-US" altLang="ko-KR" dirty="0"/>
              <a:t>,</a:t>
            </a:r>
            <a:r>
              <a:rPr kumimoji="1" lang="ko-KR" altLang="en-US" dirty="0"/>
              <a:t> 중심부는 </a:t>
            </a:r>
            <a:r>
              <a:rPr kumimoji="1" lang="ko-KR" altLang="en-US" dirty="0" err="1"/>
              <a:t>많이하고</a:t>
            </a:r>
            <a:r>
              <a:rPr kumimoji="1" lang="ko-KR" altLang="en-US" dirty="0"/>
              <a:t> 바깥쪽은 적게 </a:t>
            </a:r>
            <a:r>
              <a:rPr kumimoji="1" lang="ko-KR" altLang="en-US" dirty="0" err="1"/>
              <a:t>측정한다던가</a:t>
            </a:r>
            <a:r>
              <a:rPr kumimoji="1" lang="ko-KR" altLang="en-US" dirty="0"/>
              <a:t> 직선형이 아니라 나선형 혹은 각도를 바꿔가며 </a:t>
            </a:r>
            <a:r>
              <a:rPr kumimoji="1" lang="ko-KR" altLang="en-US" dirty="0" err="1"/>
              <a:t>수집한다거나</a:t>
            </a:r>
            <a:r>
              <a:rPr kumimoji="1" lang="ko-KR" altLang="en-US" dirty="0"/>
              <a:t> 등 여러 방법이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ko-KR" altLang="en-US" dirty="0"/>
              <a:t>그렇게 측정한 </a:t>
            </a:r>
            <a:r>
              <a:rPr kumimoji="1" lang="en-US" altLang="ko-KR" dirty="0"/>
              <a:t>k-space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자기지도학습을 </a:t>
            </a:r>
            <a:r>
              <a:rPr kumimoji="1" lang="ko-KR" altLang="en-US" dirty="0" err="1"/>
              <a:t>할때</a:t>
            </a:r>
            <a:r>
              <a:rPr kumimoji="1" lang="ko-KR" altLang="en-US" dirty="0"/>
              <a:t> 복원에 </a:t>
            </a:r>
            <a:r>
              <a:rPr kumimoji="1" lang="ko-KR" altLang="en-US" dirty="0" err="1"/>
              <a:t>사용하는거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검증 데이터 </a:t>
            </a:r>
            <a:r>
              <a:rPr kumimoji="1" lang="ko-KR" altLang="en-US" dirty="0" err="1"/>
              <a:t>이런식으로</a:t>
            </a:r>
            <a:r>
              <a:rPr kumimoji="1" lang="ko-KR" altLang="en-US" dirty="0"/>
              <a:t> 데이터를 또 나누는데 보통은 이 과정을 따로 결정하는 경우가 많습니다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근데 실제로는 어떤 데이터를 측정했는지에 따라 </a:t>
            </a:r>
            <a:r>
              <a:rPr kumimoji="1" lang="en-US" altLang="ko-KR" dirty="0"/>
              <a:t>SSL</a:t>
            </a:r>
            <a:r>
              <a:rPr kumimoji="1" lang="ko-KR" altLang="en-US" dirty="0"/>
              <a:t> 학습 성능도 달라질 수 있으니 이 두개의 분할 방식을 바꿔가며 실험을 해보면 제한된 측정 데이터에서 더 좋은 성능을 얻는 조건을 찾아볼 수 있지 않을까 생각을 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39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아이디어는 공개 </a:t>
            </a:r>
            <a:r>
              <a:rPr lang="en" altLang="ko-Kore-KR" dirty="0"/>
              <a:t>MRI </a:t>
            </a:r>
            <a:r>
              <a:rPr lang="ko-KR" altLang="en-US" dirty="0"/>
              <a:t>데이터로 먼저 모델을 학습한 뒤</a:t>
            </a:r>
            <a:r>
              <a:rPr lang="en-US" altLang="ko-KR" dirty="0"/>
              <a:t>, </a:t>
            </a:r>
            <a:r>
              <a:rPr lang="ko-KR" altLang="en-US" dirty="0"/>
              <a:t>새로운 </a:t>
            </a:r>
            <a:r>
              <a:rPr lang="en" altLang="ko-Kore-KR" dirty="0" err="1"/>
              <a:t>Pulseq</a:t>
            </a:r>
            <a:r>
              <a:rPr lang="en" altLang="ko-Kore-KR" dirty="0"/>
              <a:t> </a:t>
            </a:r>
            <a:r>
              <a:rPr lang="ko-KR" altLang="en-US" dirty="0"/>
              <a:t>데이터에 적용하는 것입니다</a:t>
            </a:r>
            <a:r>
              <a:rPr lang="en-US" altLang="ko-KR" dirty="0"/>
              <a:t>. </a:t>
            </a:r>
            <a:r>
              <a:rPr lang="ko-KR" altLang="en-US" dirty="0"/>
              <a:t>찾아보니 활용할 수 있는 공개데이터가 있기 때문에</a:t>
            </a:r>
            <a:r>
              <a:rPr lang="en-US" altLang="ko-KR" dirty="0"/>
              <a:t>, </a:t>
            </a:r>
            <a:r>
              <a:rPr lang="ko-KR" altLang="en-US" dirty="0"/>
              <a:t>미국에 가기 전 이 데이터를 이용해 </a:t>
            </a:r>
            <a:r>
              <a:rPr lang="en" altLang="ko-Kore-KR" dirty="0"/>
              <a:t>reconstruction </a:t>
            </a:r>
            <a:r>
              <a:rPr lang="ko-KR" altLang="en-US" dirty="0"/>
              <a:t>과정을 실습하고 기본 모델도 하나 만들어보고</a:t>
            </a:r>
            <a:r>
              <a:rPr lang="en-US" altLang="ko-KR" dirty="0"/>
              <a:t>,</a:t>
            </a:r>
            <a:r>
              <a:rPr lang="ko-KR" altLang="en-US" dirty="0"/>
              <a:t> 이후 실제 현장에서 얻은 데이터에 모델을 그대로 적용하거나 전이학습 또는 모델을 추가 최적화 하는 방법을 비교하면 시간을 절약하고 새로운 촬영 환경에서 얼마나 잘 적응하는지 확인할 수 있을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03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8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9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ctr" defTabSz="914400" rtl="0" eaLnBrk="1" latinLnBrk="1" hangingPunct="1">
              <a:spcBef>
                <a:spcPct val="0"/>
              </a:spcBef>
              <a:buNone/>
              <a:defRPr lang="ko-KR" altLang="en-US" sz="2400" kern="1200" dirty="0">
                <a:ln w="1841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251520" y="6472792"/>
            <a:ext cx="864096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58880" y="6491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i="0">
                <a:ln>
                  <a:noFill/>
                </a:ln>
                <a:solidFill>
                  <a:srgbClr val="002060"/>
                </a:solidFill>
                <a:latin typeface="Cambria" pitchFamily="18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E0A7-21ED-4AFC-8312-D4C6E39458AB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itchFamily="18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175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3940" y="1447800"/>
            <a:ext cx="7013575" cy="2133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406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dt="0"/>
  <p:txStyles>
    <p:titleStyle>
      <a:lvl1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+mj-lt"/>
          <a:ea typeface="+mj-ea"/>
          <a:cs typeface="Geneva" charset="0"/>
        </a:defRPr>
      </a:lvl1pPr>
      <a:lvl2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2pPr>
      <a:lvl3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3pPr>
      <a:lvl4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4pPr>
      <a:lvl5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5pPr>
      <a:lvl6pPr marL="3429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6pPr>
      <a:lvl7pPr marL="6858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7pPr>
      <a:lvl8pPr marL="10287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8pPr>
      <a:lvl9pPr marL="13716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9pPr>
    </p:titleStyle>
    <p:bodyStyle>
      <a:lvl1pPr marL="172641" indent="-172641" algn="l" rtl="0" eaLnBrk="0" fontAlgn="base" hangingPunct="0">
        <a:lnSpc>
          <a:spcPts val="2025"/>
        </a:lnSpc>
        <a:spcBef>
          <a:spcPct val="0"/>
        </a:spcBef>
        <a:spcAft>
          <a:spcPts val="105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  <a:cs typeface="Geneva" charset="0"/>
        </a:defRPr>
      </a:lvl1pPr>
      <a:lvl2pPr marL="557213" indent="-214313" algn="l" rtl="0" eaLnBrk="0" fontAlgn="base" hangingPunct="0">
        <a:lnSpc>
          <a:spcPts val="2100"/>
        </a:lnSpc>
        <a:spcBef>
          <a:spcPct val="0"/>
        </a:spcBef>
        <a:spcAft>
          <a:spcPts val="1050"/>
        </a:spcAft>
        <a:buChar char="–"/>
        <a:defRPr sz="1725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defRPr sz="1500">
          <a:solidFill>
            <a:schemeClr val="tx1"/>
          </a:solidFill>
          <a:latin typeface="Times" charset="0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3940" y="1447800"/>
            <a:ext cx="7013575" cy="2133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406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+mj-lt"/>
          <a:ea typeface="+mj-ea"/>
          <a:cs typeface="Geneva" charset="0"/>
        </a:defRPr>
      </a:lvl1pPr>
      <a:lvl2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2pPr>
      <a:lvl3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3pPr>
      <a:lvl4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4pPr>
      <a:lvl5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5pPr>
      <a:lvl6pPr marL="3429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6pPr>
      <a:lvl7pPr marL="6858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7pPr>
      <a:lvl8pPr marL="10287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8pPr>
      <a:lvl9pPr marL="13716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9pPr>
    </p:titleStyle>
    <p:bodyStyle>
      <a:lvl1pPr marL="172641" indent="-172641" algn="l" rtl="0" eaLnBrk="0" fontAlgn="base" hangingPunct="0">
        <a:lnSpc>
          <a:spcPts val="2025"/>
        </a:lnSpc>
        <a:spcBef>
          <a:spcPct val="0"/>
        </a:spcBef>
        <a:spcAft>
          <a:spcPts val="105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  <a:cs typeface="Geneva" charset="0"/>
        </a:defRPr>
      </a:lvl1pPr>
      <a:lvl2pPr marL="557213" indent="-214313" algn="l" rtl="0" eaLnBrk="0" fontAlgn="base" hangingPunct="0">
        <a:lnSpc>
          <a:spcPts val="2100"/>
        </a:lnSpc>
        <a:spcBef>
          <a:spcPct val="0"/>
        </a:spcBef>
        <a:spcAft>
          <a:spcPts val="1050"/>
        </a:spcAft>
        <a:buChar char="–"/>
        <a:defRPr sz="1725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defRPr sz="1500">
          <a:solidFill>
            <a:schemeClr val="tx1"/>
          </a:solidFill>
          <a:latin typeface="Times" charset="0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EF91A-BEBB-4022-8DE7-9D7B567EF690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2026. 7. 11.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NANO STRUCTURED MATERIALS LAB.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E0A7-21ED-4AFC-8312-D4C6E39458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50198F3-C00D-4F66-465F-37BA28198BE9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ubtitle 3">
            <a:extLst>
              <a:ext uri="{FF2B5EF4-FFF2-40B4-BE49-F238E27FC236}">
                <a16:creationId xmlns:a16="http://schemas.microsoft.com/office/drawing/2014/main" id="{C17E0EDA-0C09-F1F3-FA12-80E1A7278895}"/>
              </a:ext>
            </a:extLst>
          </p:cNvPr>
          <p:cNvSpPr txBox="1">
            <a:spLocks/>
          </p:cNvSpPr>
          <p:nvPr/>
        </p:nvSpPr>
        <p:spPr bwMode="auto">
          <a:xfrm>
            <a:off x="0" y="3429000"/>
            <a:ext cx="9144000" cy="30636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ts val="2700"/>
              </a:lnSpc>
              <a:spcBef>
                <a:spcPct val="0"/>
              </a:spcBef>
              <a:spcAft>
                <a:spcPts val="140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  <a:cs typeface="Geneva" charset="0"/>
              </a:defRPr>
            </a:lvl1pPr>
            <a:lvl2pPr marL="457200" indent="0"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ts val="1400"/>
              </a:spcAft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2026.</a:t>
            </a:r>
            <a:r>
              <a:rPr lang="ko-KR" alt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0</a:t>
            </a:r>
            <a:r>
              <a:rPr lang="en-US" altLang="ko-KR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7</a:t>
            </a: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  <a:r>
              <a:rPr lang="ko-KR" alt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11</a:t>
            </a:r>
            <a:endParaRPr lang="en-US" sz="1800" kern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D3331-DB9D-91EE-3CA5-F7F3B1DC7CDB}"/>
              </a:ext>
            </a:extLst>
          </p:cNvPr>
          <p:cNvSpPr txBox="1"/>
          <p:nvPr/>
        </p:nvSpPr>
        <p:spPr>
          <a:xfrm>
            <a:off x="0" y="1338122"/>
            <a:ext cx="9144000" cy="12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3000" b="1" dirty="0">
                <a:solidFill>
                  <a:srgbClr val="002060"/>
                </a:solidFill>
                <a:latin typeface="Arial" panose="020B0604020202020204" pitchFamily="34" charset="0"/>
                <a:ea typeface="Pretendard Variable Medium" panose="02000003000000020004" pitchFamily="2" charset="-127"/>
                <a:cs typeface="Arial" panose="020B0604020202020204" pitchFamily="34" charset="0"/>
              </a:rPr>
              <a:t>A Tutorial on MRI Reconstruction</a:t>
            </a:r>
          </a:p>
          <a:p>
            <a:pPr algn="ctr">
              <a:lnSpc>
                <a:spcPct val="130000"/>
              </a:lnSpc>
            </a:pPr>
            <a:r>
              <a:rPr lang="en-US" altLang="ko-KR" sz="3000" b="1" dirty="0">
                <a:solidFill>
                  <a:srgbClr val="002060"/>
                </a:solidFill>
                <a:latin typeface="Arial" panose="020B0604020202020204" pitchFamily="34" charset="0"/>
                <a:ea typeface="Pretendard Variable Medium" panose="02000003000000020004" pitchFamily="2" charset="-127"/>
                <a:cs typeface="Arial" panose="020B0604020202020204" pitchFamily="34" charset="0"/>
              </a:rPr>
              <a:t>From Modern Methods to Deep Learning</a:t>
            </a:r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476DC381-1067-09FE-E44B-7FDDA4C569C2}"/>
              </a:ext>
            </a:extLst>
          </p:cNvPr>
          <p:cNvSpPr txBox="1">
            <a:spLocks/>
          </p:cNvSpPr>
          <p:nvPr/>
        </p:nvSpPr>
        <p:spPr bwMode="auto">
          <a:xfrm>
            <a:off x="0" y="3985161"/>
            <a:ext cx="9144000" cy="30636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ts val="2700"/>
              </a:lnSpc>
              <a:spcBef>
                <a:spcPct val="0"/>
              </a:spcBef>
              <a:spcAft>
                <a:spcPts val="140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  <a:cs typeface="Geneva" charset="0"/>
              </a:defRPr>
            </a:lvl1pPr>
            <a:lvl2pPr marL="457200" indent="0"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ts val="1400"/>
              </a:spcAft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Yun Seo Jang</a:t>
            </a:r>
          </a:p>
        </p:txBody>
      </p:sp>
    </p:spTree>
    <p:extLst>
      <p:ext uri="{BB962C8B-B14F-4D97-AF65-F5344CB8AC3E}">
        <p14:creationId xmlns:p14="http://schemas.microsoft.com/office/powerpoint/2010/main" val="369977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1415-9F10-5BFF-40C1-E28AC85E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D3FA89F2-6BB6-4791-989E-DE08FBBE9FF4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C783B39C-1F01-9624-DE15-D50167322C16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F1211C0F-47C9-387D-7F98-628EEAD84A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E7CA22-D5D4-9EC5-F5A2-2F95546648D6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MRI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Overview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5EC6DB-999A-D4C1-B236-3F8839ADD8EC}"/>
              </a:ext>
            </a:extLst>
          </p:cNvPr>
          <p:cNvSpPr txBox="1"/>
          <p:nvPr/>
        </p:nvSpPr>
        <p:spPr>
          <a:xfrm>
            <a:off x="1287994" y="1318937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목표</a:t>
            </a:r>
            <a:r>
              <a:rPr kumimoji="1" lang="en-US" altLang="ko-KR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진단에 필요한 영상 품질을 유지하면서 </a:t>
            </a:r>
            <a:r>
              <a:rPr kumimoji="1" lang="en-US" altLang="ko-KR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 time</a:t>
            </a:r>
            <a:r>
              <a:rPr kumimoji="1" lang="ko-KR" altLang="en-US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줄이는 것 </a:t>
            </a:r>
            <a:endParaRPr kumimoji="1" lang="en-US" altLang="ko-KR" dirty="0">
              <a:solidFill>
                <a:srgbClr val="C00000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10B8E-2448-4C53-FFFF-F9C07B190238}"/>
              </a:ext>
            </a:extLst>
          </p:cNvPr>
          <p:cNvSpPr txBox="1"/>
          <p:nvPr/>
        </p:nvSpPr>
        <p:spPr>
          <a:xfrm>
            <a:off x="649995" y="2012346"/>
            <a:ext cx="5289076" cy="392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ore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 time </a:t>
            </a:r>
            <a:r>
              <a:rPr lang="ko-Kore-KR" altLang="en-US" dirty="0"/>
              <a:t>↓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├─ </a:t>
            </a:r>
            <a:r>
              <a:rPr lang="ko-Kore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환자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움직임 영향 </a:t>
            </a:r>
            <a:r>
              <a:rPr lang="ko-Kore-KR" altLang="en-US" dirty="0"/>
              <a:t>↓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├─ </a:t>
            </a:r>
            <a:r>
              <a:rPr lang="ko-Kore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병원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workflow 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효율성</a:t>
            </a:r>
            <a:r>
              <a:rPr lang="ko-KR" altLang="en-US" dirty="0"/>
              <a:t> </a:t>
            </a:r>
            <a:r>
              <a:rPr lang="ko-Kore-KR" altLang="en-US" dirty="0"/>
              <a:t>↑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├─ </a:t>
            </a:r>
            <a:r>
              <a:rPr lang="ko-Kore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환자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편의성 </a:t>
            </a:r>
            <a:r>
              <a:rPr lang="ko-Kore-KR" altLang="en-US" dirty="0"/>
              <a:t>↑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└─ </a:t>
            </a:r>
            <a:r>
              <a:rPr lang="ko-Kore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측정되는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데이터 </a:t>
            </a:r>
            <a:r>
              <a:rPr lang="ko-Kore-KR" altLang="en-US" dirty="0"/>
              <a:t>↓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         ├─ SNR ↓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         ├─ </a:t>
            </a:r>
            <a:r>
              <a:rPr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Artifact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risk</a:t>
            </a:r>
            <a:r>
              <a:rPr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ko-Kore-KR" altLang="en-US" dirty="0"/>
              <a:t>↑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         ├─ </a:t>
            </a:r>
            <a:r>
              <a:rPr lang="en-US" altLang="ko-Kore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Spatial resolution </a:t>
            </a:r>
            <a:r>
              <a:rPr lang="ko-Kore-KR" altLang="en-US" dirty="0"/>
              <a:t>↓ (possible)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         ├─</a:t>
            </a:r>
            <a:r>
              <a:rPr lang="ko-KR" altLang="en-US" dirty="0"/>
              <a:t> </a:t>
            </a:r>
            <a:r>
              <a:rPr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Coverage </a:t>
            </a:r>
            <a:r>
              <a:rPr lang="ko-Kore-KR" altLang="en-US" dirty="0"/>
              <a:t>↓ (possible)</a:t>
            </a:r>
          </a:p>
          <a:p>
            <a:pPr>
              <a:lnSpc>
                <a:spcPct val="140000"/>
              </a:lnSpc>
            </a:pPr>
            <a:r>
              <a:rPr lang="ko-Kore-KR" altLang="en-US" dirty="0"/>
              <a:t>            └─ </a:t>
            </a:r>
            <a:r>
              <a:rPr lang="en-US" altLang="ko-Kore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Contrast number </a:t>
            </a:r>
            <a:r>
              <a:rPr lang="ko-Kore-KR" altLang="en-US" dirty="0"/>
              <a:t>↓ (possible)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F0306-CC88-EAD9-ABCE-3CB80EE147F0}"/>
              </a:ext>
            </a:extLst>
          </p:cNvPr>
          <p:cNvSpPr txBox="1"/>
          <p:nvPr/>
        </p:nvSpPr>
        <p:spPr>
          <a:xfrm>
            <a:off x="5729751" y="3483421"/>
            <a:ext cx="2941504" cy="77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ore-KR" altLang="en-US" dirty="0"/>
              <a:t>Reconstruction aims to </a:t>
            </a:r>
            <a:endParaRPr lang="en-US" altLang="ko-Kore-KR" dirty="0"/>
          </a:p>
          <a:p>
            <a:pPr algn="ctr">
              <a:lnSpc>
                <a:spcPct val="130000"/>
              </a:lnSpc>
            </a:pPr>
            <a:r>
              <a:rPr lang="ko-Kore-KR" altLang="en-US" dirty="0"/>
              <a:t>recover image quality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5A478-4AC8-F67B-B794-A353ABA2AB05}"/>
              </a:ext>
            </a:extLst>
          </p:cNvPr>
          <p:cNvSpPr txBox="1"/>
          <p:nvPr/>
        </p:nvSpPr>
        <p:spPr>
          <a:xfrm>
            <a:off x="4967752" y="3597561"/>
            <a:ext cx="1179662" cy="52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ore-KR" sz="2400" dirty="0"/>
              <a:t>→</a:t>
            </a:r>
            <a:endParaRPr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333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5FDC-4E39-697C-E788-9D062FE9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89AE385E-4B15-BEE3-BEF4-2EEA661AA100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5174E3D1-FA0C-F379-3232-3CC7E145B2B3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A5E7B1D-05AE-D9F5-41D0-F780469EB0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E7D66C-87CD-642A-42F9-0B5E0AAE4BCC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MRI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Overview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B8A4F8-1032-49CE-BE11-005BE4B71F1C}"/>
              </a:ext>
            </a:extLst>
          </p:cNvPr>
          <p:cNvSpPr txBox="1"/>
          <p:nvPr/>
        </p:nvSpPr>
        <p:spPr>
          <a:xfrm>
            <a:off x="768735" y="1358442"/>
            <a:ext cx="7606530" cy="2375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필요한 </a:t>
            </a: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 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데이터를 일부만 측정하여 </a:t>
            </a: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 time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줄이고자 함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↓ 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측정하지 않은 </a:t>
            </a: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 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 때문에 </a:t>
            </a: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aliasing, noise, blur 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등의 문제가 발생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(k-space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한 줄은 최종 영상 한 줄과 직접 대응하지 않음</a:t>
            </a: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줄을 빼면 영상의 특정 부분이 빈칸이 </a:t>
            </a:r>
            <a:r>
              <a:rPr kumimoji="1" lang="ko-KR" altLang="en-US" sz="1100" dirty="0" err="1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되는게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아니라 영상에 왜곡이 나타나는 것</a:t>
            </a: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100" dirty="0">
              <a:solidFill>
                <a:schemeClr val="bg1">
                  <a:lumMod val="50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 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으로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artifact</a:t>
            </a:r>
            <a:r>
              <a:rPr kumimoji="1" lang="ko-KR" altLang="en-US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제거하고 원래 영상에 가까운 이미지를 복원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41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3544-6B2B-1B09-1530-AE661ED7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33D9C474-1D66-DEFA-A12A-0C9B9684A061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C1461219-1E2D-9C69-69FC-27F696786CEF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05A07974-7159-B242-B616-076530209A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AC2420-61F8-45DC-ED69-9C711CDF7512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MRI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Overview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0140FAA-13A0-1B89-84C9-E85537A89109}"/>
              </a:ext>
            </a:extLst>
          </p:cNvPr>
          <p:cNvSpPr txBox="1"/>
          <p:nvPr/>
        </p:nvSpPr>
        <p:spPr>
          <a:xfrm>
            <a:off x="566816" y="1229299"/>
            <a:ext cx="6337564" cy="90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는 원래 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라는 공간의 데이터를 충분히 측정한 뒤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이를 영상으로 변환함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But, k-space</a:t>
            </a:r>
            <a:r>
              <a:rPr kumimoji="1" lang="ko-KR" altLang="en-US" sz="13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모두 측정하려면 시간이 오래 걸림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So,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Parallel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imaging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은 이 문제를 해결하기 위해 하나의 코일이 아니라 여러 개의 코일을 사용함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56F5D7-BCF8-065C-5D72-1C1B83B16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5" y="2311107"/>
            <a:ext cx="3391918" cy="1555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E3F333-DA7A-7637-73B9-3CDB75A79A07}"/>
              </a:ext>
            </a:extLst>
          </p:cNvPr>
          <p:cNvSpPr txBox="1"/>
          <p:nvPr/>
        </p:nvSpPr>
        <p:spPr>
          <a:xfrm>
            <a:off x="4771186" y="2388264"/>
            <a:ext cx="4372814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Coil Sensitivity </a:t>
            </a:r>
          </a:p>
          <a:p>
            <a:pPr>
              <a:lnSpc>
                <a:spcPct val="150000"/>
              </a:lnSpc>
            </a:pPr>
            <a:r>
              <a:rPr kumimoji="1" lang="ko-KR" altLang="en-US" sz="11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각 코일은 환자의 몸에서 위치가 다르기 때문에 같은 부위를 촬영하더라도 </a:t>
            </a:r>
            <a:endParaRPr kumimoji="1" lang="en-US" altLang="ko-KR" sz="11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1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서로 조금씩 다른 신호를 강하게 받음 </a:t>
            </a:r>
            <a:endParaRPr kumimoji="1" lang="en-US" altLang="ko-KR" sz="11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0CFE0E-9940-D802-F1D0-6981EA452EAD}"/>
              </a:ext>
            </a:extLst>
          </p:cNvPr>
          <p:cNvCxnSpPr/>
          <p:nvPr/>
        </p:nvCxnSpPr>
        <p:spPr bwMode="auto">
          <a:xfrm>
            <a:off x="3905290" y="2591283"/>
            <a:ext cx="7861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0715D7-F3A0-51CB-849D-A07D67AD719C}"/>
              </a:ext>
            </a:extLst>
          </p:cNvPr>
          <p:cNvSpPr txBox="1"/>
          <p:nvPr/>
        </p:nvSpPr>
        <p:spPr>
          <a:xfrm>
            <a:off x="566816" y="4118043"/>
            <a:ext cx="8327708" cy="65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3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</a:t>
            </a:r>
            <a:r>
              <a:rPr kumimoji="1" lang="ko-KR" altLang="en-US" sz="13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3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측정하지 못한 정보를 추정하기 위해 사용하는 사전 지식 또는 예상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719C0-6F00-8D8C-5169-9B22DF2AC87A}"/>
              </a:ext>
            </a:extLst>
          </p:cNvPr>
          <p:cNvSpPr txBox="1"/>
          <p:nvPr/>
        </p:nvSpPr>
        <p:spPr>
          <a:xfrm>
            <a:off x="566816" y="4823349"/>
            <a:ext cx="8327708" cy="957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촬영 시간을 줄이기 위해 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일부만 측정 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컴퓨터는 측정하지 않은 부분이 어떤 값인지 알 수 없음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단순히 아무 값이나 채우는 것이 아니라 </a:t>
            </a:r>
            <a:r>
              <a:rPr kumimoji="1" lang="en-US" altLang="ko-KR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일반적인 </a:t>
            </a:r>
            <a:r>
              <a:rPr kumimoji="1" lang="en-US" altLang="ko-KR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영상은 대체로 이런 특징을 가진다</a:t>
            </a:r>
            <a:r>
              <a:rPr kumimoji="1" lang="en-US" altLang="ko-KR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’</a:t>
            </a:r>
            <a:r>
              <a:rPr kumimoji="1" lang="ko-KR" altLang="en-US" sz="1300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라는 지식을 이용함 </a:t>
            </a:r>
          </a:p>
          <a:p>
            <a:pPr>
              <a:lnSpc>
                <a:spcPct val="150000"/>
              </a:lnSpc>
            </a:pP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9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732A-9683-1E8C-0962-51F75F0E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040EE3C4-30E7-3D69-2764-E018E7C297A7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C73CFC-0FAF-1FB9-070D-99AF374D9BDD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89EC872-C7EE-453E-A975-F2D8C635DDC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75FD50-F9D5-D1A5-7BAD-EE3E6A682577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MRI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Reconstruction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13C437A-1CF6-BE1B-7D8F-AA2A1C1985A7}"/>
              </a:ext>
            </a:extLst>
          </p:cNvPr>
          <p:cNvSpPr txBox="1"/>
          <p:nvPr/>
        </p:nvSpPr>
        <p:spPr>
          <a:xfrm>
            <a:off x="649995" y="2148189"/>
            <a:ext cx="4101294" cy="3618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ore-KR" altLang="en-US" sz="12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전통적 방법</a:t>
            </a:r>
            <a:endParaRPr lang="en-US" altLang="ko-Kore-KR" sz="12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</a:t>
            </a:r>
            <a:r>
              <a:rPr lang="en-US" altLang="ko-Kore-KR" sz="1200" dirty="0"/>
              <a:t>       </a:t>
            </a:r>
            <a:r>
              <a:rPr lang="ko-Kore-KR" altLang="en-US" sz="1200" dirty="0"/>
              <a:t>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사람이 직접 설계한 prior 사용</a:t>
            </a:r>
            <a:endParaRPr lang="en-US" altLang="ko-Kore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</a:t>
            </a:r>
            <a:r>
              <a:rPr lang="ko-KR" altLang="en-US" sz="1200" dirty="0"/>
              <a:t>       </a:t>
            </a:r>
            <a:r>
              <a:rPr lang="ko-Kore-KR" altLang="en-US" sz="1200" dirty="0"/>
              <a:t>│</a:t>
            </a: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├──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arallel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imaging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</a:t>
            </a:r>
            <a:r>
              <a:rPr lang="ko-KR" altLang="en-US" sz="1200" dirty="0"/>
              <a:t> </a:t>
            </a:r>
            <a:r>
              <a:rPr lang="ko-Kore-KR" altLang="en-US" sz="1200" dirty="0"/>
              <a:t>  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ENSE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</a:t>
            </a:r>
            <a:r>
              <a:rPr lang="ko-Kore-KR" altLang="en-US" sz="1200" dirty="0"/>
              <a:t> │ </a:t>
            </a:r>
            <a:r>
              <a:rPr lang="en-US" altLang="ko-Kore-KR" sz="1200" dirty="0"/>
              <a:t>      </a:t>
            </a:r>
            <a:r>
              <a:rPr lang="ko-Kore-KR" altLang="en-US" sz="1200" dirty="0"/>
              <a:t>└──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GRAPPA</a:t>
            </a:r>
          </a:p>
          <a:p>
            <a:pPr>
              <a:lnSpc>
                <a:spcPct val="120000"/>
              </a:lnSpc>
            </a:pPr>
            <a:r>
              <a:rPr lang="en-US" altLang="ko-Kore-KR" sz="1200" dirty="0"/>
              <a:t>       </a:t>
            </a:r>
            <a:r>
              <a:rPr lang="ko-Kore-KR" altLang="en-US" sz="1200" dirty="0"/>
              <a:t> │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</a:t>
            </a:r>
            <a:r>
              <a:rPr lang="en-US" altLang="ko-Kore-KR" sz="1200" dirty="0"/>
              <a:t>  </a:t>
            </a:r>
            <a:r>
              <a:rPr lang="ko-Kore-KR" altLang="en-US" sz="1200" dirty="0"/>
              <a:t> └── 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사람이 설계한 구조적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이용 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     </a:t>
            </a:r>
            <a:r>
              <a:rPr lang="en-US" altLang="ko-Kore-KR" sz="1200" dirty="0"/>
              <a:t>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 ├──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parsity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/>
              <a:t>         </a:t>
            </a:r>
            <a:r>
              <a:rPr lang="en-US" altLang="ko-KR" sz="1200" dirty="0"/>
              <a:t>   </a:t>
            </a:r>
            <a:r>
              <a:rPr lang="ko-KR" altLang="en-US" sz="1200" dirty="0"/>
              <a:t> </a:t>
            </a:r>
            <a:r>
              <a:rPr lang="en-US" altLang="ko-KR" sz="1200" dirty="0"/>
              <a:t>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│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     </a:t>
            </a:r>
            <a:r>
              <a:rPr lang="en-US" altLang="ko-Kore-KR" sz="1200" dirty="0"/>
              <a:t>   </a:t>
            </a:r>
            <a:r>
              <a:rPr lang="ko-Kore-KR" altLang="en-US" sz="1200" dirty="0"/>
              <a:t>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</a:t>
            </a:r>
            <a:r>
              <a:rPr lang="ko-KR" altLang="en-US" sz="1200" dirty="0"/>
              <a:t>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ow-rank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/>
              <a:t>          </a:t>
            </a:r>
            <a:r>
              <a:rPr lang="en-US" altLang="ko-KR" sz="1200" dirty="0"/>
              <a:t> 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│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    </a:t>
            </a:r>
            <a:r>
              <a:rPr lang="ko-KR" altLang="en-US" sz="1200" dirty="0"/>
              <a:t>  </a:t>
            </a:r>
            <a:r>
              <a:rPr lang="ko-Kore-KR" altLang="en-US" sz="1200" dirty="0"/>
              <a:t>   </a:t>
            </a:r>
            <a:r>
              <a:rPr lang="en-US" altLang="ko-Kore-KR" sz="1200" dirty="0"/>
              <a:t> 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</a:t>
            </a:r>
            <a:r>
              <a:rPr lang="ko-KR" altLang="en-US" sz="1200" dirty="0"/>
              <a:t>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ubspace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ore-KR" altLang="en-US" sz="1200" dirty="0"/>
              <a:t> </a:t>
            </a:r>
            <a:r>
              <a:rPr lang="ko-KR" altLang="en-US" sz="1200" dirty="0"/>
              <a:t> </a:t>
            </a:r>
            <a:r>
              <a:rPr lang="en-US" altLang="ko-KR" sz="1200" dirty="0"/>
              <a:t>   </a:t>
            </a:r>
            <a:r>
              <a:rPr lang="ko-KR" altLang="en-US" sz="1200" dirty="0"/>
              <a:t>       </a:t>
            </a:r>
            <a:r>
              <a:rPr lang="en-US" altLang="ko-KR" sz="1200" dirty="0"/>
              <a:t>    </a:t>
            </a:r>
            <a:r>
              <a:rPr lang="ko-KR" altLang="en-US" sz="1200" dirty="0"/>
              <a:t>  </a:t>
            </a:r>
            <a:r>
              <a:rPr lang="ko-Kore-KR" altLang="en-US" sz="1200" dirty="0"/>
              <a:t>│</a:t>
            </a:r>
            <a:endParaRPr lang="en-US" altLang="ko-Kore-KR" sz="1200" dirty="0"/>
          </a:p>
          <a:p>
            <a:pPr>
              <a:lnSpc>
                <a:spcPct val="120000"/>
              </a:lnSpc>
            </a:pPr>
            <a:r>
              <a:rPr lang="ko-KR" altLang="en-US" sz="1200" dirty="0"/>
              <a:t>        </a:t>
            </a:r>
            <a:r>
              <a:rPr lang="ko-Kore-KR" altLang="en-US" sz="1200" dirty="0"/>
              <a:t>  </a:t>
            </a:r>
            <a:r>
              <a:rPr lang="ko-KR" altLang="en-US" sz="1200" dirty="0"/>
              <a:t>  </a:t>
            </a:r>
            <a:r>
              <a:rPr lang="en-US" altLang="ko-KR" sz="1200" dirty="0"/>
              <a:t>      </a:t>
            </a:r>
            <a:r>
              <a:rPr lang="ko-Kore-KR" altLang="en-US" sz="1200" dirty="0"/>
              <a:t>└──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복합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Prior </a:t>
            </a:r>
            <a:endParaRPr lang="en-US" altLang="ko-Kore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endParaRPr lang="en-US" altLang="ko-KR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6F9-E000-7B6F-79C5-16C9541F4612}"/>
              </a:ext>
            </a:extLst>
          </p:cNvPr>
          <p:cNvSpPr txBox="1"/>
          <p:nvPr/>
        </p:nvSpPr>
        <p:spPr>
          <a:xfrm>
            <a:off x="4322524" y="2148189"/>
            <a:ext cx="4821476" cy="393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ore-KR" sz="12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lang="ko-Kore-KR" altLang="en-US" sz="12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딥러닝 방법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</a:t>
            </a:r>
            <a:r>
              <a:rPr lang="ko-KR" altLang="en-US" sz="1200" dirty="0"/>
              <a:t>       </a:t>
            </a:r>
            <a:r>
              <a:rPr lang="ko-Kore-KR" altLang="en-US" sz="1200" dirty="0"/>
              <a:t> 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데이터에서 learned prior를 학습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│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 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어떤 구조로 reconstruction하나?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data-driven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physics-guided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 </a:t>
            </a:r>
            <a:r>
              <a:rPr lang="ko-Kore-KR" altLang="en-US" sz="1200" dirty="0"/>
              <a:t> </a:t>
            </a:r>
            <a:r>
              <a:rPr lang="ko-KR" altLang="en-US" sz="1200" dirty="0"/>
              <a:t> </a:t>
            </a:r>
            <a:r>
              <a:rPr lang="ko-Kore-KR" altLang="en-US" sz="1200" dirty="0"/>
              <a:t> 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generative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│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어떤 network architecture를 쓰나?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│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 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CNN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 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Transformer / attention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recurrent / state-space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│   </a:t>
            </a:r>
            <a:r>
              <a:rPr lang="ko-KR" altLang="en-US" sz="1200" dirty="0"/>
              <a:t>    </a:t>
            </a:r>
            <a:r>
              <a:rPr lang="ko-Kore-KR" altLang="en-US" sz="1200" dirty="0"/>
              <a:t>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image-domain / k-space-domain / hybrid-domain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│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</a:t>
            </a:r>
            <a:r>
              <a:rPr lang="ko-KR" altLang="en-US" sz="1200" dirty="0"/>
              <a:t>   </a:t>
            </a:r>
            <a:r>
              <a:rPr lang="ko-Kore-KR" altLang="en-US" sz="1200" dirty="0"/>
              <a:t>  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어떻게 학습하나?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   </a:t>
            </a:r>
            <a:r>
              <a:rPr lang="ko-KR" altLang="en-US" sz="1200" dirty="0"/>
              <a:t>     </a:t>
            </a:r>
            <a:r>
              <a:rPr lang="ko-Kore-KR" altLang="en-US" sz="1200" dirty="0"/>
              <a:t> </a:t>
            </a:r>
            <a:r>
              <a:rPr lang="ko-KR" altLang="en-US" sz="1200" dirty="0"/>
              <a:t>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supervised learning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    </a:t>
            </a:r>
            <a:r>
              <a:rPr lang="ko-KR" altLang="en-US" sz="1200" dirty="0"/>
              <a:t>    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solidFill>
                  <a:srgbClr val="0000BA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self-supervised learning, SSL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    </a:t>
            </a:r>
            <a:r>
              <a:rPr lang="ko-KR" altLang="en-US" sz="1200" dirty="0"/>
              <a:t>        </a:t>
            </a:r>
            <a:r>
              <a:rPr lang="ko-Kore-KR" altLang="en-US" sz="1200" dirty="0"/>
              <a:t>├──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scan-specific learning</a:t>
            </a:r>
          </a:p>
          <a:p>
            <a:pPr>
              <a:lnSpc>
                <a:spcPct val="110000"/>
              </a:lnSpc>
            </a:pPr>
            <a:r>
              <a:rPr lang="ko-Kore-KR" altLang="en-US" sz="1200" dirty="0"/>
              <a:t>           </a:t>
            </a:r>
            <a:r>
              <a:rPr lang="ko-KR" altLang="en-US" sz="1200" dirty="0"/>
              <a:t>        </a:t>
            </a:r>
            <a:r>
              <a:rPr lang="ko-Kore-KR" altLang="en-US" sz="1200" dirty="0"/>
              <a:t> └──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hybrid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3AE84-FCAF-95A2-733C-364AF8F7B8D6}"/>
              </a:ext>
            </a:extLst>
          </p:cNvPr>
          <p:cNvSpPr txBox="1"/>
          <p:nvPr/>
        </p:nvSpPr>
        <p:spPr>
          <a:xfrm>
            <a:off x="0" y="1077311"/>
            <a:ext cx="9144000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인체 조직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Signal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sz="1450" b="1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50" b="1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algorithm</a:t>
            </a:r>
            <a:r>
              <a:rPr kumimoji="1" lang="ko-KR" altLang="en-US" sz="1450" b="1" dirty="0">
                <a:solidFill>
                  <a:srgbClr val="C00000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r>
              <a:rPr kumimoji="1" lang="en-US" altLang="ko-KR" sz="145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image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A2A9554-054B-4E75-D745-0CBE8EF317F8}"/>
              </a:ext>
            </a:extLst>
          </p:cNvPr>
          <p:cNvCxnSpPr>
            <a:cxnSpLocks/>
          </p:cNvCxnSpPr>
          <p:nvPr/>
        </p:nvCxnSpPr>
        <p:spPr bwMode="auto">
          <a:xfrm>
            <a:off x="5472113" y="1556906"/>
            <a:ext cx="0" cy="414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8B10DEB-C5A6-2887-A1CF-A97078D00C0C}"/>
              </a:ext>
            </a:extLst>
          </p:cNvPr>
          <p:cNvCxnSpPr>
            <a:cxnSpLocks/>
          </p:cNvCxnSpPr>
          <p:nvPr/>
        </p:nvCxnSpPr>
        <p:spPr bwMode="auto">
          <a:xfrm flipH="1">
            <a:off x="2429217" y="1556906"/>
            <a:ext cx="3042896" cy="414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0224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27BA-9432-1A28-F6D3-DC0959C7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BA537992-08F5-3ED7-2EF0-FB9690DD22FC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4A269FD4-B1F4-5ED1-CEC0-D9B27EA5C53B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1008171A-F7FA-14CB-9DCB-E3A84C0A8B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DF5E35-34E6-0EBF-8F41-E1AC1218491B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자기지도학습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Self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Supervised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Learning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58C200-2789-6151-81FD-E4ED334FBE43}"/>
              </a:ext>
            </a:extLst>
          </p:cNvPr>
          <p:cNvSpPr txBox="1"/>
          <p:nvPr/>
        </p:nvSpPr>
        <p:spPr>
          <a:xfrm>
            <a:off x="566817" y="1380582"/>
            <a:ext cx="832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SSL: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별도로 준비된 정답 영상 없이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현재 가지고 있는 측정 데이터 자체에서 학습 신호를 만들어 모델을 학습하는 방법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597174-857C-4599-0C5D-106D57634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17" y="2777226"/>
            <a:ext cx="7765515" cy="22457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C52CD3-208B-2B59-D0C9-AAC232AC084B}"/>
              </a:ext>
            </a:extLst>
          </p:cNvPr>
          <p:cNvSpPr txBox="1"/>
          <p:nvPr/>
        </p:nvSpPr>
        <p:spPr>
          <a:xfrm>
            <a:off x="566816" y="1794302"/>
            <a:ext cx="8012105" cy="62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 reconstruction</a:t>
            </a:r>
            <a:r>
              <a:rPr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에서는 측정된 </a:t>
            </a:r>
            <a:r>
              <a:rPr lang="en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 </a:t>
            </a:r>
            <a:r>
              <a:rPr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일부를 영상 복원에 사용하고</a:t>
            </a:r>
            <a:r>
              <a:rPr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다른 일부를 모델의 예측이 정확한지 확인하는 정답 역할로 사용한다</a:t>
            </a:r>
            <a:r>
              <a:rPr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endParaRPr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331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327D-77E0-1F05-ED15-D2CF300B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4E13EB76-6A6B-7C38-63E9-E2C5938665F8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A8F2C003-E4AB-A5B7-307C-A21CA82A0698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8DAA49DC-F6E9-246C-4952-1F04EE40E5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827AF7-3F4C-4694-FAC1-317A015F7F50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자기지도학습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Self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Supervised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Learning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C9A0626-76D3-C3E8-07B9-CBEF99EF87B4}"/>
              </a:ext>
            </a:extLst>
          </p:cNvPr>
          <p:cNvSpPr txBox="1"/>
          <p:nvPr/>
        </p:nvSpPr>
        <p:spPr>
          <a:xfrm>
            <a:off x="566816" y="1142960"/>
            <a:ext cx="8327700" cy="744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5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Undersampled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k-space 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있다고 가정</a:t>
            </a: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5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Let,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측정된 위치를 전체 집합 </a:t>
            </a:r>
            <a:r>
              <a:rPr kumimoji="1" lang="el-GR" altLang="ko-KR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Ω</a:t>
            </a:r>
            <a:r>
              <a:rPr kumimoji="1" lang="ko-KR" altLang="en-US" sz="15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</a:t>
            </a:r>
            <a:endParaRPr kumimoji="1" lang="en-US" altLang="ko-KR" sz="15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2FC50A-AEE1-180C-9F8D-EAA35487C46B}"/>
              </a:ext>
            </a:extLst>
          </p:cNvPr>
          <p:cNvSpPr/>
          <p:nvPr/>
        </p:nvSpPr>
        <p:spPr bwMode="auto">
          <a:xfrm>
            <a:off x="673146" y="2090570"/>
            <a:ext cx="7799342" cy="117661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Geneva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C61A58-E111-1639-E597-D9EB2E4423D5}"/>
              </a:ext>
            </a:extLst>
          </p:cNvPr>
          <p:cNvSpPr/>
          <p:nvPr/>
        </p:nvSpPr>
        <p:spPr bwMode="auto">
          <a:xfrm>
            <a:off x="830996" y="2440977"/>
            <a:ext cx="3782186" cy="7192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Geneva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068539-D08F-1BA9-AE29-6A3BB584AC37}"/>
              </a:ext>
            </a:extLst>
          </p:cNvPr>
          <p:cNvSpPr/>
          <p:nvPr/>
        </p:nvSpPr>
        <p:spPr bwMode="auto">
          <a:xfrm>
            <a:off x="4772666" y="2423115"/>
            <a:ext cx="3540338" cy="75122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Geneva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65CDE2-0190-AAA1-04CE-6DB80969D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6" y="1947009"/>
            <a:ext cx="287338" cy="32049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56DC14A-6D87-B49E-2C25-EB051F6EE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46" y="2285609"/>
            <a:ext cx="358334" cy="3457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04067C9-D4BF-8A80-BD3A-CF1BE181A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291" y="2267747"/>
            <a:ext cx="296614" cy="3637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AE5842A-F89C-FCF9-B97E-A7A90548DFBF}"/>
              </a:ext>
            </a:extLst>
          </p:cNvPr>
          <p:cNvSpPr txBox="1"/>
          <p:nvPr/>
        </p:nvSpPr>
        <p:spPr>
          <a:xfrm>
            <a:off x="1016046" y="2679343"/>
            <a:ext cx="3398792" cy="34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Network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사용하는 입력 데이터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6B2D72-FC8C-0E7F-D34F-95E8AE829A4A}"/>
              </a:ext>
            </a:extLst>
          </p:cNvPr>
          <p:cNvSpPr txBox="1"/>
          <p:nvPr/>
        </p:nvSpPr>
        <p:spPr>
          <a:xfrm>
            <a:off x="4914212" y="2675235"/>
            <a:ext cx="3398792" cy="34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학습 중 정답 역할을 하는 숨겨진 데이터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ED9755D-894F-61EE-2FA1-EE9EC9D13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659" y="3332295"/>
            <a:ext cx="1000079" cy="254737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7E8EEDE-DFFE-51E4-7242-74C366093382}"/>
              </a:ext>
            </a:extLst>
          </p:cNvPr>
          <p:cNvCxnSpPr>
            <a:cxnSpLocks/>
          </p:cNvCxnSpPr>
          <p:nvPr/>
        </p:nvCxnSpPr>
        <p:spPr bwMode="auto">
          <a:xfrm>
            <a:off x="2271713" y="3053616"/>
            <a:ext cx="0" cy="4917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52469F-E190-2E17-ABC4-AD83A2C73AEC}"/>
              </a:ext>
            </a:extLst>
          </p:cNvPr>
          <p:cNvSpPr txBox="1"/>
          <p:nvPr/>
        </p:nvSpPr>
        <p:spPr>
          <a:xfrm>
            <a:off x="653358" y="3567342"/>
            <a:ext cx="3305093" cy="175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l-GR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Θ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만 입력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network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영상 복원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복원 영상을 다시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로 변환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el-GR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Λ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위치의 </a:t>
            </a:r>
            <a:r>
              <a:rPr kumimoji="1"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예측값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추출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5185EB-6971-C771-1452-8F4B7FF827ED}"/>
              </a:ext>
            </a:extLst>
          </p:cNvPr>
          <p:cNvCxnSpPr>
            <a:cxnSpLocks/>
          </p:cNvCxnSpPr>
          <p:nvPr/>
        </p:nvCxnSpPr>
        <p:spPr bwMode="auto">
          <a:xfrm>
            <a:off x="5853113" y="3053615"/>
            <a:ext cx="0" cy="17898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B6AA097-ECEB-A600-D80A-3A705C9526BC}"/>
              </a:ext>
            </a:extLst>
          </p:cNvPr>
          <p:cNvSpPr txBox="1"/>
          <p:nvPr/>
        </p:nvSpPr>
        <p:spPr>
          <a:xfrm>
            <a:off x="4200566" y="4951333"/>
            <a:ext cx="3305093" cy="30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실제 </a:t>
            </a:r>
            <a:r>
              <a:rPr lang="el-GR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Λ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측정값과 비교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416B61-D994-8E58-B1A5-8FDDEEB896B6}"/>
              </a:ext>
            </a:extLst>
          </p:cNvPr>
          <p:cNvSpPr txBox="1"/>
          <p:nvPr/>
        </p:nvSpPr>
        <p:spPr>
          <a:xfrm>
            <a:off x="2498529" y="5727480"/>
            <a:ext cx="3305093" cy="30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오차를 줄이도록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network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학습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CE57EB6D-7084-5C85-3840-E8222877623C}"/>
              </a:ext>
            </a:extLst>
          </p:cNvPr>
          <p:cNvCxnSpPr/>
          <p:nvPr/>
        </p:nvCxnSpPr>
        <p:spPr bwMode="auto">
          <a:xfrm>
            <a:off x="2428875" y="5403101"/>
            <a:ext cx="0" cy="2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CA08495D-29D7-0C58-7593-9767CD7E6608}"/>
              </a:ext>
            </a:extLst>
          </p:cNvPr>
          <p:cNvCxnSpPr/>
          <p:nvPr/>
        </p:nvCxnSpPr>
        <p:spPr bwMode="auto">
          <a:xfrm>
            <a:off x="5853112" y="5403101"/>
            <a:ext cx="0" cy="2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6A0DD24E-3A2B-DE7B-B503-67F39E9F714F}"/>
              </a:ext>
            </a:extLst>
          </p:cNvPr>
          <p:cNvCxnSpPr/>
          <p:nvPr/>
        </p:nvCxnSpPr>
        <p:spPr bwMode="auto">
          <a:xfrm>
            <a:off x="2428875" y="5672136"/>
            <a:ext cx="342423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1070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9C5D8-DCB9-94E9-807E-874C0D21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0A8FABB0-0AE5-DDAE-026A-A5C3BC64B4C6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9DAC7361-6DAB-00BC-B961-DFB23C9E8A99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3F438BDB-02D0-94F9-292C-D7355B9466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1C0E80-ED4A-F438-97EE-6BCCA95E9FC6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Zero-Shot  SSL 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7941C51-6D1B-7ADC-9C19-C648F320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17" y="1419068"/>
            <a:ext cx="3391760" cy="4019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5200D8-58FF-1A9D-83F2-25687FBC77F7}"/>
              </a:ext>
            </a:extLst>
          </p:cNvPr>
          <p:cNvSpPr txBox="1"/>
          <p:nvPr/>
        </p:nvSpPr>
        <p:spPr>
          <a:xfrm>
            <a:off x="4333864" y="2429335"/>
            <a:ext cx="4618608" cy="199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새로운 </a:t>
            </a:r>
            <a:r>
              <a:rPr lang="en" altLang="ko-Kore-KR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Pulseq</a:t>
            </a: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시퀀스에 대한 대규모 학습 데이터가 필요하지 않음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Fully sampled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정답 영상이 없어도 학습 가능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장비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코일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sampling pattern, contrast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달라져도 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해당 </a:t>
            </a: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</a:t>
            </a:r>
            <a:r>
              <a:rPr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직접 적응 가능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실제 측정된 </a:t>
            </a: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와의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일관성을 유지하는 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</a:t>
            </a:r>
            <a:r>
              <a:rPr lang="en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physics-guided reconstruction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가능</a:t>
            </a:r>
            <a:endParaRPr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공개 데이터로 학습한 모델의 분포 차이 문제를 줄일 수 있음</a:t>
            </a:r>
            <a:endParaRPr lang="ko-Kore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097E6-6A81-4ABE-B032-318B0B52A799}"/>
              </a:ext>
            </a:extLst>
          </p:cNvPr>
          <p:cNvSpPr txBox="1"/>
          <p:nvPr/>
        </p:nvSpPr>
        <p:spPr>
          <a:xfrm>
            <a:off x="4333864" y="1927706"/>
            <a:ext cx="304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ZS-SSL</a:t>
            </a: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시도해보고자 하는 이유</a:t>
            </a:r>
            <a:endParaRPr kumimoji="1" lang="en-US" altLang="ko-KR" sz="14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72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06F9-2CA1-DCFC-B24D-315B36E7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17C7DD2F-9635-32FD-78C3-703078FF96D2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80F430F5-2D76-0C38-CB5E-75008EB1DE0D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0F1A1D6D-CDB6-08FB-F065-325559CC6E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98D989-3380-75AF-0319-5C0A1ED4344D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개선 개입 가능 영역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531C131-5077-65EB-B46E-F8CF86E4CA4A}"/>
              </a:ext>
            </a:extLst>
          </p:cNvPr>
          <p:cNvGrpSpPr/>
          <p:nvPr/>
        </p:nvGrpSpPr>
        <p:grpSpPr>
          <a:xfrm>
            <a:off x="647274" y="2374634"/>
            <a:ext cx="1767154" cy="1476910"/>
            <a:chOff x="729466" y="1952090"/>
            <a:chExt cx="1767154" cy="147691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DB0EC86-81D7-6DA0-161C-FD57433EC346}"/>
                </a:ext>
              </a:extLst>
            </p:cNvPr>
            <p:cNvSpPr/>
            <p:nvPr/>
          </p:nvSpPr>
          <p:spPr bwMode="auto">
            <a:xfrm>
              <a:off x="729466" y="1952090"/>
              <a:ext cx="1767154" cy="147691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ore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Geneva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D0396B-8345-A5CA-8CBE-6597D06C5565}"/>
                </a:ext>
              </a:extLst>
            </p:cNvPr>
            <p:cNvSpPr txBox="1"/>
            <p:nvPr/>
          </p:nvSpPr>
          <p:spPr>
            <a:xfrm>
              <a:off x="729466" y="2489939"/>
              <a:ext cx="17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① 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시퀀스</a:t>
              </a:r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·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획득 설계</a:t>
              </a:r>
              <a:endParaRPr lang="ko-Kore-KR" altLang="en-US" sz="1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CC0C571-B198-A4AA-5D9C-DD4CCEA2499E}"/>
              </a:ext>
            </a:extLst>
          </p:cNvPr>
          <p:cNvGrpSpPr/>
          <p:nvPr/>
        </p:nvGrpSpPr>
        <p:grpSpPr>
          <a:xfrm>
            <a:off x="2659867" y="2374634"/>
            <a:ext cx="1767154" cy="1476910"/>
            <a:chOff x="729466" y="1952090"/>
            <a:chExt cx="1767154" cy="147691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80358D-8C79-5019-25E5-424C4E03E141}"/>
                </a:ext>
              </a:extLst>
            </p:cNvPr>
            <p:cNvSpPr/>
            <p:nvPr/>
          </p:nvSpPr>
          <p:spPr bwMode="auto">
            <a:xfrm>
              <a:off x="729466" y="1952090"/>
              <a:ext cx="1767154" cy="147691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ore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Geneva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A14B87-4610-D794-C119-D22C46798AAE}"/>
                </a:ext>
              </a:extLst>
            </p:cNvPr>
            <p:cNvSpPr txBox="1"/>
            <p:nvPr/>
          </p:nvSpPr>
          <p:spPr>
            <a:xfrm>
              <a:off x="729466" y="2428935"/>
              <a:ext cx="176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② MRI 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신호 수집 및 </a:t>
              </a:r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raw k-space 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저장</a:t>
              </a:r>
              <a:endParaRPr lang="ko-Kore-KR" altLang="en-US" sz="1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86FC75-232A-5B98-6FDC-28B5506F281D}"/>
              </a:ext>
            </a:extLst>
          </p:cNvPr>
          <p:cNvGrpSpPr/>
          <p:nvPr/>
        </p:nvGrpSpPr>
        <p:grpSpPr>
          <a:xfrm>
            <a:off x="4672460" y="2374634"/>
            <a:ext cx="1767154" cy="1476910"/>
            <a:chOff x="729466" y="1952090"/>
            <a:chExt cx="1767154" cy="147691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3BC1A0-2D8E-FC82-83AA-89715A563435}"/>
                </a:ext>
              </a:extLst>
            </p:cNvPr>
            <p:cNvSpPr/>
            <p:nvPr/>
          </p:nvSpPr>
          <p:spPr bwMode="auto">
            <a:xfrm>
              <a:off x="729466" y="1952090"/>
              <a:ext cx="1767154" cy="147691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ore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Geneva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F01EF0-7D40-1EC6-8648-A88E21A3F2DC}"/>
                </a:ext>
              </a:extLst>
            </p:cNvPr>
            <p:cNvSpPr txBox="1"/>
            <p:nvPr/>
          </p:nvSpPr>
          <p:spPr>
            <a:xfrm>
              <a:off x="729466" y="2428935"/>
              <a:ext cx="176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ko-Kore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③ k-space </a:t>
              </a:r>
            </a:p>
            <a:p>
              <a:pPr algn="ctr"/>
              <a:r>
                <a:rPr lang="ko-KR" altLang="en-US" sz="140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전처리</a:t>
              </a:r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·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보정</a:t>
              </a:r>
              <a:endParaRPr lang="ko-Kore-KR" altLang="en-US" sz="1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40FF4BE-E077-F1C9-194C-F1A28F460BE0}"/>
              </a:ext>
            </a:extLst>
          </p:cNvPr>
          <p:cNvGrpSpPr/>
          <p:nvPr/>
        </p:nvGrpSpPr>
        <p:grpSpPr>
          <a:xfrm>
            <a:off x="6685054" y="2374634"/>
            <a:ext cx="1767154" cy="1476910"/>
            <a:chOff x="729466" y="1952090"/>
            <a:chExt cx="1767154" cy="147691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3498EE8-ED3C-F3F0-0F10-B9C959B16041}"/>
                </a:ext>
              </a:extLst>
            </p:cNvPr>
            <p:cNvSpPr/>
            <p:nvPr/>
          </p:nvSpPr>
          <p:spPr bwMode="auto">
            <a:xfrm>
              <a:off x="729466" y="1952090"/>
              <a:ext cx="1767154" cy="147691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ore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Geneva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DC39BB-A3F5-8B23-EA0F-C0361613BA6A}"/>
                </a:ext>
              </a:extLst>
            </p:cNvPr>
            <p:cNvSpPr txBox="1"/>
            <p:nvPr/>
          </p:nvSpPr>
          <p:spPr>
            <a:xfrm>
              <a:off x="729466" y="2428935"/>
              <a:ext cx="176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④ </a:t>
              </a:r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영상 재구성 </a:t>
              </a:r>
              <a:endParaRPr lang="en-US" altLang="ko-KR" sz="1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  <a:p>
              <a:pPr algn="ctr"/>
              <a:r>
                <a:rPr lang="ko-KR" altLang="en-US" sz="1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및 품질 평가</a:t>
              </a:r>
              <a:endParaRPr lang="ko-Kore-KR" altLang="en-US" sz="1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179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1094-0715-0CA4-66D9-ABC5B655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1B679D85-EF58-BCFD-6551-4CDF1ACD37D5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9268D515-964C-F6FF-9707-6184B9C7BFF6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11512300-14C4-3E5E-E340-0C9B3D4F6B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1813BD-CDF4-A638-1F09-9EDB33898C6F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개선 개입 가능 영역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촬영 조건 설정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4AA8B0B-DD5A-0AC4-C0CD-5EFCA998D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52476"/>
              </p:ext>
            </p:extLst>
          </p:nvPr>
        </p:nvGraphicFramePr>
        <p:xfrm>
          <a:off x="566817" y="1288974"/>
          <a:ext cx="7806004" cy="4616072"/>
        </p:xfrm>
        <a:graphic>
          <a:graphicData uri="http://schemas.openxmlformats.org/drawingml/2006/table">
            <a:tbl>
              <a:tblPr/>
              <a:tblGrid>
                <a:gridCol w="1179790">
                  <a:extLst>
                    <a:ext uri="{9D8B030D-6E8A-4147-A177-3AD203B41FA5}">
                      <a16:colId xmlns:a16="http://schemas.microsoft.com/office/drawing/2014/main" val="180302388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2047279643"/>
                    </a:ext>
                  </a:extLst>
                </a:gridCol>
                <a:gridCol w="3020602">
                  <a:extLst>
                    <a:ext uri="{9D8B030D-6E8A-4147-A177-3AD203B41FA5}">
                      <a16:colId xmlns:a16="http://schemas.microsoft.com/office/drawing/2014/main" val="1575708761"/>
                    </a:ext>
                  </a:extLst>
                </a:gridCol>
                <a:gridCol w="1252830">
                  <a:extLst>
                    <a:ext uri="{9D8B030D-6E8A-4147-A177-3AD203B41FA5}">
                      <a16:colId xmlns:a16="http://schemas.microsoft.com/office/drawing/2014/main" val="2576147140"/>
                    </a:ext>
                  </a:extLst>
                </a:gridCol>
              </a:tblGrid>
              <a:tr h="26937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개선 항목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어떤 방식으로 조절하는가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 및 촬영시간에 미치는 영향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수행 구분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861646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가속률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설정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전체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중 일부만 측정하도록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(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R=2, 4, 6)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등으로 설정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가속률이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높을수록 촬영시간은 감소하지만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aliasing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증가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조건은 제안 가능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실제 구현은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773636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Sampling pattern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줄을 일정 간격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무작위 또는 중심부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집중 방식으로 선택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같은 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데이터량에서도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형태와 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복원 성능이 달라짐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후향적 실험은 직접 가능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011121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중심부 보존 비율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영상의 주요 형태와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 들어 있는 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중심부를 더 많이 측정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중심부가 너무 적으면 전체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와 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구조가 불안정해짐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직접 비교 가능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252628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반복 횟수 감소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NEX/NSA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2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회에서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1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회로 줄임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촬영시간은 감소하지만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SNR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이 낮아지고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증가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장비 설정은 도움 필요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효과 분석은 직접 가능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048826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Parallel imaging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여러 수신 코일의 위치 정보를 이용해 일부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줄 생략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SNR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저하 및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증폭 가능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장비 지원과 설정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29542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Partial Fourier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한쪽 일부만 측정하고 나머지를 추정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phase error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와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SNR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저하 가능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장비 설정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865346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Matrix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조절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256×256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을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192×192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또는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128×128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로 낮춤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촬영시간은 감소하지만 공간해상도가 낮아짐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조건 제안 가능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촬영은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564708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Slice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수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·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 범위 조절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 단면 수나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coverage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줄임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촬영하지 않은 영역의 정보 손실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조건 제안 가능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촬영은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738996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TR·TE·Echo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train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조절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반복 간격과 한 번에 읽는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줄 수 조절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시간은 줄일 수 있지만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contrast, blur, </a:t>
                      </a:r>
                    </a:p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SNR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이 변할 수 있음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전문적인 구현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·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검토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106117"/>
                  </a:ext>
                </a:extLst>
              </a:tr>
              <a:tr h="43467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Pulseq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시퀀스 구현</a:t>
                      </a:r>
                    </a:p>
                  </a:txBody>
                  <a:tcPr marL="22638" marR="22638" marT="11319" marB="11319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RF pulse, gradient, ADC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타이밍을 </a:t>
                      </a:r>
                      <a:endParaRPr lang="en-US" altLang="ko-KR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설계해 장비에서 실행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실제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획득 방식과 촬영시간을 직접 결정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전문적인 도움 필요</a:t>
                      </a:r>
                    </a:p>
                  </a:txBody>
                  <a:tcPr marL="22638" marR="22638" marT="11319" marB="11319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06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97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112E-E76B-79CD-8BED-EB1CBAB7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9DFB2A97-2EA0-373B-7453-B99397924BDC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ABD674AB-1AC2-E4CE-D0E0-CCD6610AEC8B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47493D35-5D5A-F56E-3B04-E6E3C7E926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C27B74-E91E-FA38-BC40-9369F068ADF8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개선 개입 가능 영역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k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space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ko-KR" altLang="en-US" sz="240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전처리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F2B4805-228D-CC89-0283-419EFE77C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355209"/>
              </p:ext>
            </p:extLst>
          </p:nvPr>
        </p:nvGraphicFramePr>
        <p:xfrm>
          <a:off x="566817" y="1333045"/>
          <a:ext cx="7927189" cy="4428767"/>
        </p:xfrm>
        <a:graphic>
          <a:graphicData uri="http://schemas.openxmlformats.org/drawingml/2006/table">
            <a:tbl>
              <a:tblPr/>
              <a:tblGrid>
                <a:gridCol w="1953031">
                  <a:extLst>
                    <a:ext uri="{9D8B030D-6E8A-4147-A177-3AD203B41FA5}">
                      <a16:colId xmlns:a16="http://schemas.microsoft.com/office/drawing/2014/main" val="305254268"/>
                    </a:ext>
                  </a:extLst>
                </a:gridCol>
                <a:gridCol w="3331762">
                  <a:extLst>
                    <a:ext uri="{9D8B030D-6E8A-4147-A177-3AD203B41FA5}">
                      <a16:colId xmlns:a16="http://schemas.microsoft.com/office/drawing/2014/main" val="1394031573"/>
                    </a:ext>
                  </a:extLst>
                </a:gridCol>
                <a:gridCol w="2642396">
                  <a:extLst>
                    <a:ext uri="{9D8B030D-6E8A-4147-A177-3AD203B41FA5}">
                      <a16:colId xmlns:a16="http://schemas.microsoft.com/office/drawing/2014/main" val="3438787407"/>
                    </a:ext>
                  </a:extLst>
                </a:gridCol>
              </a:tblGrid>
              <a:tr h="2293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개선 항목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어떤 방식으로 처리하는가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영상에 미치는 영향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93794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데이터 정규화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환자나 촬영마다 다른 신호 크기를 비슷한 범위로 맞춤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모델 학습이 안정되고 데이터 간 편차 감소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16200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Sampling mask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적용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측정할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위치와 누락시킬 위치를 지정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가속률과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형태를 결정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532611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en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prewhitening</a:t>
                      </a:r>
                      <a:endParaRPr lang="en" sz="900" b="0" i="0" dirty="0">
                        <a:latin typeface="Pretendard Variable Light" panose="02000003000000020004" pitchFamily="2" charset="-127"/>
                        <a:ea typeface="Pretendard Variable Light" panose="02000003000000020004" pitchFamily="2" charset="-127"/>
                        <a:cs typeface="Pretendard Variable Light" panose="02000003000000020004" pitchFamily="2" charset="-127"/>
                      </a:endParaRP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코일 사이에 함께 섞여 있는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분리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·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보정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감소와 재구성 안정성 향상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572393"/>
                  </a:ext>
                </a:extLst>
              </a:tr>
              <a:tr h="5469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Coil compression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많은 코일 채널을 주요 정보가 담긴 적은 채널로 축소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연산량과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메모리 사용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과도하면 정보 손실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343835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Coil sensitivity map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추정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각 코일이 어느 위치의 신호에 민감한지 계산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Multi-coil reconstruction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정확도 향상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57979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Oversampling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제거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필요 이상으로 저장된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readout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데이터를 제거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데이터 크기와 연산시간 감소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350727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Phase correction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줄 사이의 위상 차이를 보정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Ghost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와 줄무늬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27191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Trajectory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보정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실제 측정 위치와 계획한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위치의 차이를 수정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왜곡과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blur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39285"/>
                  </a:ext>
                </a:extLst>
              </a:tr>
              <a:tr h="388179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Motion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보정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움직임이 발생한 데이터의 위치나 위상을 보정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움직임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305120"/>
                  </a:ext>
                </a:extLst>
              </a:tr>
              <a:tr h="5469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학습 데이터 분할</a:t>
                      </a:r>
                    </a:p>
                  </a:txBody>
                  <a:tcPr marL="34002" marR="34002" marT="17001" marB="17001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측정된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모델 입력용과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loss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계산용으로 나눔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자기지도학습 성능에 직접적인 영향</a:t>
                      </a:r>
                    </a:p>
                  </a:txBody>
                  <a:tcPr marL="34002" marR="34002" marT="17001" marB="1700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8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022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4DBD-7B39-7250-DDA9-0F8A4B38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930AD04D-8BDA-4492-94CA-954AB1E8503A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96FA796E-CF02-4236-CD4E-CE21AF2232A3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EA43F8CF-8583-BD2C-97A4-6D0C03A7FD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8954B8-922D-9D82-8D3D-8C766D1D2F71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개선 개입 가능 영역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영상 재구성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80F370-A368-FCA3-D2F4-2DBC08472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199699"/>
              </p:ext>
            </p:extLst>
          </p:nvPr>
        </p:nvGraphicFramePr>
        <p:xfrm>
          <a:off x="566816" y="1243181"/>
          <a:ext cx="7991556" cy="4315136"/>
        </p:xfrm>
        <a:graphic>
          <a:graphicData uri="http://schemas.openxmlformats.org/drawingml/2006/table">
            <a:tbl>
              <a:tblPr/>
              <a:tblGrid>
                <a:gridCol w="1940078">
                  <a:extLst>
                    <a:ext uri="{9D8B030D-6E8A-4147-A177-3AD203B41FA5}">
                      <a16:colId xmlns:a16="http://schemas.microsoft.com/office/drawing/2014/main" val="3123786796"/>
                    </a:ext>
                  </a:extLst>
                </a:gridCol>
                <a:gridCol w="3387626">
                  <a:extLst>
                    <a:ext uri="{9D8B030D-6E8A-4147-A177-3AD203B41FA5}">
                      <a16:colId xmlns:a16="http://schemas.microsoft.com/office/drawing/2014/main" val="1735631255"/>
                    </a:ext>
                  </a:extLst>
                </a:gridCol>
                <a:gridCol w="2663852">
                  <a:extLst>
                    <a:ext uri="{9D8B030D-6E8A-4147-A177-3AD203B41FA5}">
                      <a16:colId xmlns:a16="http://schemas.microsoft.com/office/drawing/2014/main" val="1354083558"/>
                    </a:ext>
                  </a:extLst>
                </a:gridCol>
              </a:tblGrid>
              <a:tr h="3338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개선 항목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어떤 방식으로 재구성하는가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영상에 미치는 영향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332821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Zero-filled IFFT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누락된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0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으로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채운 뒤 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역푸리에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변환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빠르지만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aliasing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이 그대로 남음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786635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Parallel imaging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코일별 위치 정보를 이용해 누락 데이터를 복원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기존 임상 방식과 비교 가능한 기준 제공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531273"/>
                  </a:ext>
                </a:extLst>
              </a:tr>
              <a:tr h="499673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Compressed sensing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영상이 비교적 단순하고 압축 가능하다는 특성을 이용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 줄일 수 있지만 계산시간이 길 수 있음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203111"/>
                  </a:ext>
                </a:extLst>
              </a:tr>
              <a:tr h="4996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지도학습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불완전한 영상과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fully sampled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정답 영상의 관계를 학습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높은 복원 성능 가능</a:t>
                      </a:r>
                      <a:r>
                        <a:rPr lang="en-US" altLang="ko-KR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완전한 정답 데이터 필요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360903"/>
                  </a:ext>
                </a:extLst>
              </a:tr>
              <a:tr h="4996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자기지도학습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측정된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일부를 입력과 학습 정답으로 나누어 사용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Fully sampled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정답 없이 학습 가능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56396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Unrolled network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물리 기반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reconstruction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 신경망을 반복적으로 결합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측정 데이터와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AI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복원 결과의 일관성 향상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68965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Multi-coil reconstruction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코일별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raw data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합치기 전에 모두 활용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공간정보를 더 많이 활용해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275113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Multi-contrast reconstruction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T1, T2, FLAIR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등에서 공통된 구조를 함께 이용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한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의 부족한 정보를 다른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 보완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990299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Denoising reconstruction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NEX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감소로 증가한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재구성과 동시에 제거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SNR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 영상 가독성 향상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37018"/>
                  </a:ext>
                </a:extLst>
              </a:tr>
              <a:tr h="354605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Motion-aware reconstruction</a:t>
                      </a:r>
                    </a:p>
                  </a:txBody>
                  <a:tcPr marL="32825" marR="32825" marT="16412" marB="16412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움직임과 영상을 동시에 추정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움직임이 있는 데이터의 복원 성능 향상</a:t>
                      </a:r>
                    </a:p>
                  </a:txBody>
                  <a:tcPr marL="32825" marR="32825" marT="16412" marB="1641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008976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E33A544-1355-7C2D-B867-75F44C92E251}"/>
              </a:ext>
            </a:extLst>
          </p:cNvPr>
          <p:cNvSpPr/>
          <p:nvPr/>
        </p:nvSpPr>
        <p:spPr bwMode="auto">
          <a:xfrm>
            <a:off x="566816" y="3298005"/>
            <a:ext cx="7899090" cy="49316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54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80DD-ED02-93A4-20C6-DBB3AF9D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24CFF4F1-2C89-F87B-6BDF-070DA5A2C73D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4CB155-4FE2-A32A-E17E-DF177B064E18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E9051536-BA10-0CD6-6BE6-E4F5C6FECF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FBDFFA-5E70-C86A-E1F2-475D48B75603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개선 개입 가능 영역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모델 최적화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D388B14-92DB-CCD3-5EC4-B3FAA9828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930440"/>
              </p:ext>
            </p:extLst>
          </p:nvPr>
        </p:nvGraphicFramePr>
        <p:xfrm>
          <a:off x="566816" y="1243179"/>
          <a:ext cx="8032647" cy="4428144"/>
        </p:xfrm>
        <a:graphic>
          <a:graphicData uri="http://schemas.openxmlformats.org/drawingml/2006/table">
            <a:tbl>
              <a:tblPr/>
              <a:tblGrid>
                <a:gridCol w="2022272">
                  <a:extLst>
                    <a:ext uri="{9D8B030D-6E8A-4147-A177-3AD203B41FA5}">
                      <a16:colId xmlns:a16="http://schemas.microsoft.com/office/drawing/2014/main" val="2652657663"/>
                    </a:ext>
                  </a:extLst>
                </a:gridCol>
                <a:gridCol w="3332826">
                  <a:extLst>
                    <a:ext uri="{9D8B030D-6E8A-4147-A177-3AD203B41FA5}">
                      <a16:colId xmlns:a16="http://schemas.microsoft.com/office/drawing/2014/main" val="3204371636"/>
                    </a:ext>
                  </a:extLst>
                </a:gridCol>
                <a:gridCol w="2677549">
                  <a:extLst>
                    <a:ext uri="{9D8B030D-6E8A-4147-A177-3AD203B41FA5}">
                      <a16:colId xmlns:a16="http://schemas.microsoft.com/office/drawing/2014/main" val="2330481625"/>
                    </a:ext>
                  </a:extLst>
                </a:gridCol>
              </a:tblGrid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개선 항목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어떤 방식으로 조절하는가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영상에 미치는 영향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336792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Network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구조 비교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U-Net, unrolled network, transformer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등을 비교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구조 보존</a:t>
                      </a:r>
                      <a:r>
                        <a:rPr lang="en-US" altLang="ko-KR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artifact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제거 성능</a:t>
                      </a:r>
                      <a:r>
                        <a:rPr lang="en-US" altLang="ko-KR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연산시간이 달라짐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93311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Loss function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비교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픽셀 차이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SSIM, 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오차 등을 조합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선명도와 구조 보존 특성이 달라짐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669641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Data consistency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적용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실제로 측정한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값은 모델이 임의로 바꾸지 못하게 함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가짜 구조 생성 위험 감소</a:t>
                      </a:r>
                      <a:r>
                        <a:rPr lang="en-US" altLang="ko-KR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물리적 신뢰도 향상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8880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가속률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별 모델 학습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(R=2,4,6)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별로 따로 또는 함께 학습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다양한 데이터 부족 수준에 대한 대응력 향상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075676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Mask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별 학습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Uniform, random, variable-density mask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사용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특정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mask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에 과도하게 의존하는 문제 감소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36400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중심부 보존 비율 조절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학습에 사용할 저주파 데이터 비율 변경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전체 형태와 </a:t>
                      </a:r>
                      <a:r>
                        <a:rPr lang="en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contrast </a:t>
                      </a:r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안정성 변화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079510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자기지도 데이터 분할 비율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입력용과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loss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용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비율 조절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학습 안정성과 복원 성능의 균형 결정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53579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정규화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·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증강 방법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신호 크기 조절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회전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noise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추가 등을 적용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다른 환자와 촬영 조건에 대한 일반화 향상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29934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Multi-coil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활용 방식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코일별 입력 또는 결합된 입력을 비교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정보량과 모델 복잡도 사이의 균형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62684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불확실성 추정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모델이 확신하지 못하는 영역을 함께 표시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복원 결과의 신뢰성 판단에 도움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97419"/>
                  </a:ext>
                </a:extLst>
              </a:tr>
              <a:tr h="3690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경량화</a:t>
                      </a:r>
                    </a:p>
                  </a:txBody>
                  <a:tcPr marL="32327" marR="32327" marT="16164" marB="16164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채널 수와 반복 단계 수를 줄임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복원시간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과도하면 품질 저하</a:t>
                      </a:r>
                    </a:p>
                  </a:txBody>
                  <a:tcPr marL="32327" marR="32327" marT="16164" marB="1616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251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096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9F60-0843-3E66-EADE-48D9FA54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F6C11E9D-5794-2595-DE89-EAC9AABC82C4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202F540F-0152-81A4-23A9-8B774B59BB9E}"/>
              </a:ext>
            </a:extLst>
          </p:cNvPr>
          <p:cNvGrpSpPr/>
          <p:nvPr/>
        </p:nvGrpSpPr>
        <p:grpSpPr>
          <a:xfrm>
            <a:off x="566817" y="551364"/>
            <a:ext cx="7579648" cy="461665"/>
            <a:chOff x="566817" y="551364"/>
            <a:chExt cx="5929357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A0C163D1-6705-609B-5399-A8DAD63BA32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524003-5E79-C9A9-5326-1C1883EB31D7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아이디어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1: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실제 가속 촬영과 모의 가속 실험 차이 비교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5233618-0E74-FFEB-3845-5AD51F89F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78" y="1609514"/>
            <a:ext cx="4366208" cy="3198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C36AE-271C-85DC-ACC7-3253130E121B}"/>
              </a:ext>
            </a:extLst>
          </p:cNvPr>
          <p:cNvSpPr txBox="1"/>
          <p:nvPr/>
        </p:nvSpPr>
        <p:spPr>
          <a:xfrm>
            <a:off x="4572000" y="2173539"/>
            <a:ext cx="3981734" cy="517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대부분의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연구는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fully sampled 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 일부 데이터를 컴퓨터로 삭제하여 가속 촬영을 모의함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CC800-11B4-5A7C-73EE-7AA952195FFF}"/>
              </a:ext>
            </a:extLst>
          </p:cNvPr>
          <p:cNvSpPr txBox="1"/>
          <p:nvPr/>
        </p:nvSpPr>
        <p:spPr>
          <a:xfrm>
            <a:off x="4572000" y="3072262"/>
            <a:ext cx="3961499" cy="517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실제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연구는 처음부터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만 획득함 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실제 촬영에는 </a:t>
            </a:r>
            <a:r>
              <a:rPr kumimoji="1"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noise, </a:t>
            </a:r>
            <a:r>
              <a:rPr kumimoji="1"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움직임 등 다양한 오차가 추가됨</a:t>
            </a:r>
            <a:endParaRPr kumimoji="1" lang="en-US" altLang="ko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D57F1-D2F2-9285-428C-FAD1B364088D}"/>
              </a:ext>
            </a:extLst>
          </p:cNvPr>
          <p:cNvSpPr txBox="1"/>
          <p:nvPr/>
        </p:nvSpPr>
        <p:spPr>
          <a:xfrm>
            <a:off x="613715" y="5267387"/>
            <a:ext cx="8347942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⟩ 기존 연구는 편리한 후향적 실험을 주요 사용하지만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실제 가속 촬영의 복잡한 오차를 충분히 반영하지 못할 수 있음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두 조건을 직접 비교하여 모의 실험 결과가 실제 성능에 얼마나 정확하게 나타내는지 확인하고자 함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8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AAF0-6661-B44A-1A75-F7BF2C97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22F54097-C601-BAA4-7882-60AAD7A26285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890A184F-627E-5D22-AA61-8188E7E108FD}"/>
              </a:ext>
            </a:extLst>
          </p:cNvPr>
          <p:cNvGrpSpPr/>
          <p:nvPr/>
        </p:nvGrpSpPr>
        <p:grpSpPr>
          <a:xfrm>
            <a:off x="566817" y="551364"/>
            <a:ext cx="7579648" cy="461665"/>
            <a:chOff x="566817" y="551364"/>
            <a:chExt cx="5929357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19DEEF9-A836-465B-A3CE-3B74034F51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C21AEE-4F86-2DFE-390F-7090FC88DD07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아이디어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2: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 샘플링 패턴과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SSL 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분할 공동 최적화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6696A0A-C1ED-5581-6940-ECE6F61EC810}"/>
              </a:ext>
            </a:extLst>
          </p:cNvPr>
          <p:cNvSpPr txBox="1"/>
          <p:nvPr/>
        </p:nvSpPr>
        <p:spPr>
          <a:xfrm>
            <a:off x="603509" y="1482456"/>
            <a:ext cx="8347942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Sampling pattern: MRI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는 전체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모두 측정하지 않고 일부만 선택해 촬영시간을 줄임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    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이때 어느 위치의 데이터를 남길 것인지가 샘플링 패턴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69D20-C2D3-99D9-C03F-64F14C5FD6DF}"/>
              </a:ext>
            </a:extLst>
          </p:cNvPr>
          <p:cNvSpPr txBox="1"/>
          <p:nvPr/>
        </p:nvSpPr>
        <p:spPr>
          <a:xfrm>
            <a:off x="603509" y="2310490"/>
            <a:ext cx="8347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ZS-SSL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은 이렇게 측정한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다시 나누어 사용함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E8415-8DD5-B527-548B-265E67B673B2}"/>
              </a:ext>
            </a:extLst>
          </p:cNvPr>
          <p:cNvSpPr txBox="1"/>
          <p:nvPr/>
        </p:nvSpPr>
        <p:spPr>
          <a:xfrm>
            <a:off x="2935744" y="2607380"/>
            <a:ext cx="3999310" cy="136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실제로 측정한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</a:p>
          <a:p>
            <a:pPr>
              <a:lnSpc>
                <a:spcPct val="12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│</a:t>
            </a:r>
          </a:p>
          <a:p>
            <a:pPr>
              <a:lnSpc>
                <a:spcPct val="12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├─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영상 복원에 사용하는 데이터</a:t>
            </a:r>
          </a:p>
          <a:p>
            <a:pPr>
              <a:lnSpc>
                <a:spcPct val="12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├─ 모델 학습 오차를 계산하는 데이터</a:t>
            </a:r>
          </a:p>
          <a:p>
            <a:pPr>
              <a:lnSpc>
                <a:spcPct val="12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└─ 과적합을 확인하는 검증 데이터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70B02-A911-D9EB-FE4F-1F8FB6EBB4C9}"/>
              </a:ext>
            </a:extLst>
          </p:cNvPr>
          <p:cNvSpPr txBox="1"/>
          <p:nvPr/>
        </p:nvSpPr>
        <p:spPr>
          <a:xfrm>
            <a:off x="603509" y="4284056"/>
            <a:ext cx="8347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따라서 결과에는 두가지 선택이 동시에 영향을 줌 </a:t>
            </a:r>
            <a:endParaRPr kumimoji="1" lang="en-US" altLang="ko-KR" sz="1400" b="1" dirty="0">
              <a:solidFill>
                <a:srgbClr val="5064AE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E4302-D858-CAB6-EB9D-7D5688D5AF0E}"/>
              </a:ext>
            </a:extLst>
          </p:cNvPr>
          <p:cNvSpPr txBox="1"/>
          <p:nvPr/>
        </p:nvSpPr>
        <p:spPr>
          <a:xfrm>
            <a:off x="603509" y="4648109"/>
            <a:ext cx="83479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① MRI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 어떤 </a:t>
            </a:r>
            <a:r>
              <a:rPr kumimoji="1" lang="en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측정할 것인가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+</a:t>
            </a:r>
          </a:p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②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측정한 </a:t>
            </a:r>
            <a:r>
              <a:rPr kumimoji="1" lang="en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학습에 어떻게 나눌 것인가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↓</a:t>
            </a:r>
          </a:p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최종 복원 성능 결정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F3980-1A95-E52B-DCF8-054E9AF1832E}"/>
              </a:ext>
            </a:extLst>
          </p:cNvPr>
          <p:cNvSpPr txBox="1"/>
          <p:nvPr/>
        </p:nvSpPr>
        <p:spPr>
          <a:xfrm>
            <a:off x="772297" y="1833510"/>
            <a:ext cx="6524090" cy="43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ore-KR" altLang="en-US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73377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4B29-14CB-C7E6-5788-DC51AE5F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5A85B6E1-5E69-F78B-9455-8160DA5CB4F3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8F9FC038-358D-68DE-AD5B-7149C43C85BD}"/>
              </a:ext>
            </a:extLst>
          </p:cNvPr>
          <p:cNvGrpSpPr/>
          <p:nvPr/>
        </p:nvGrpSpPr>
        <p:grpSpPr>
          <a:xfrm>
            <a:off x="566817" y="551364"/>
            <a:ext cx="7579648" cy="461665"/>
            <a:chOff x="566817" y="551364"/>
            <a:chExt cx="5929357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F2601F0-4CF1-A9AA-ADBA-D1D75843710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EA0477-357F-829C-EF87-933F996CAAFB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아이디어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3: 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공개데이터 학습 및 전이학습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05D4DFE-7F99-301A-7EEC-92662062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46" y="2043971"/>
            <a:ext cx="3401075" cy="2770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0C96F-7EE9-50B1-475A-31F044E96AC7}"/>
              </a:ext>
            </a:extLst>
          </p:cNvPr>
          <p:cNvSpPr txBox="1"/>
          <p:nvPr/>
        </p:nvSpPr>
        <p:spPr>
          <a:xfrm>
            <a:off x="4333864" y="2429335"/>
            <a:ext cx="4618608" cy="144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ore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사전학습과 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ZS-SSL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결합하면 학습 시간을 줄이면서 품질을 높일 수 있는지 확인</a:t>
            </a:r>
            <a:endParaRPr lang="en-US" altLang="ko-Kore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공개 데이터에서 학습한 모델을 그대로 적용하는 경우뿐 아니라</a:t>
            </a:r>
            <a:r>
              <a:rPr lang="en-US" altLang="ko-Kore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lang="ko-Kore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새로운 촬영 환경에 적응하는 여러 전략을 비교 </a:t>
            </a:r>
            <a:endParaRPr lang="en-US" altLang="ko-Kore-KR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793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32C8-9EC9-E840-8363-946A69A3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000120D8-4FD7-0136-AD10-557515EA62A8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12CAE8B2-2872-3453-A46E-A3FC7C4367E1}"/>
              </a:ext>
            </a:extLst>
          </p:cNvPr>
          <p:cNvGrpSpPr/>
          <p:nvPr/>
        </p:nvGrpSpPr>
        <p:grpSpPr>
          <a:xfrm>
            <a:off x="566817" y="551364"/>
            <a:ext cx="7579648" cy="461665"/>
            <a:chOff x="566817" y="551364"/>
            <a:chExt cx="5929357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767D8716-BDD3-2C6E-B554-708C76E755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5BB2EE-E800-E4A1-E8F1-F9838C908F2A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ore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예상 리스크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A6C01D-5629-5328-D968-F9EB2AEFDDA9}"/>
              </a:ext>
            </a:extLst>
          </p:cNvPr>
          <p:cNvSpPr txBox="1"/>
          <p:nvPr/>
        </p:nvSpPr>
        <p:spPr>
          <a:xfrm>
            <a:off x="546582" y="1414660"/>
            <a:ext cx="8347942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대상 시퀀스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미확정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필요한 데이터 형식과 실험 설계가 변경될 수 있음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Pulseq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구현 난도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시퀀스 개발과 장비 실행에 시간이 많이 소요될 수 있음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스캐너 사용시간 부족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모든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가속률과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반복 실험을 촬영 하기 어려움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80FEB-76EB-6E93-E4E1-232686429078}"/>
              </a:ext>
            </a:extLst>
          </p:cNvPr>
          <p:cNvSpPr txBox="1"/>
          <p:nvPr/>
        </p:nvSpPr>
        <p:spPr>
          <a:xfrm>
            <a:off x="546582" y="3795399"/>
            <a:ext cx="8347942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기본 이론 이해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문제 정의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문헌 조사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기초 실습 및 베이스라인 코드 완성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 요구사항 및 모델 준비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시퀀스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scanner, coil,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 포맷 등에 대한 확인 질문 준비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55E5B9C-693C-D393-BAEC-BAC4A5C1907A}"/>
              </a:ext>
            </a:extLst>
          </p:cNvPr>
          <p:cNvGrpSpPr/>
          <p:nvPr/>
        </p:nvGrpSpPr>
        <p:grpSpPr>
          <a:xfrm>
            <a:off x="566817" y="3078467"/>
            <a:ext cx="7579648" cy="461665"/>
            <a:chOff x="566817" y="551364"/>
            <a:chExt cx="5929357" cy="461665"/>
          </a:xfrm>
        </p:grpSpPr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AA7155AC-E0B5-EC94-D049-9F1857C93C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09CFFA-CE84-0C48-349F-16637F18B2BA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ore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사전 준비 계획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730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D059-88DA-8FCE-00F2-B70A6D14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0C0DB9C9-8EEC-112E-FDF3-B727B830DD68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4D2B13A0-AA3A-7735-225C-B85AD34297DE}"/>
              </a:ext>
            </a:extLst>
          </p:cNvPr>
          <p:cNvGrpSpPr/>
          <p:nvPr/>
        </p:nvGrpSpPr>
        <p:grpSpPr>
          <a:xfrm>
            <a:off x="566817" y="551364"/>
            <a:ext cx="7579648" cy="461665"/>
            <a:chOff x="566817" y="551364"/>
            <a:chExt cx="5929357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C99E36C5-C405-C7E6-EE6F-2788728AA3C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B99BA7-9754-8494-FF82-E1DF87D35B36}"/>
                </a:ext>
              </a:extLst>
            </p:cNvPr>
            <p:cNvSpPr txBox="1"/>
            <p:nvPr/>
          </p:nvSpPr>
          <p:spPr>
            <a:xfrm>
              <a:off x="649995" y="551364"/>
              <a:ext cx="5846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A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ppendix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153448"/>
      </p:ext>
    </p:extLst>
  </p:cSld>
  <p:clrMapOvr>
    <a:masterClrMapping/>
  </p:clrMapOvr>
</p:sld>
</file>

<file path=ppt/theme/theme1.xml><?xml version="1.0" encoding="utf-8"?>
<a:theme xmlns:a="http://schemas.openxmlformats.org/drawingml/2006/main" name="1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993333"/>
      </a:accent2>
      <a:accent3>
        <a:srgbClr val="FFFFFF"/>
      </a:accent3>
      <a:accent4>
        <a:srgbClr val="000000"/>
      </a:accent4>
      <a:accent5>
        <a:srgbClr val="EBEBEB"/>
      </a:accent5>
      <a:accent6>
        <a:srgbClr val="8A2D2D"/>
      </a:accent6>
      <a:hlink>
        <a:srgbClr val="4D4D4D"/>
      </a:hlink>
      <a:folHlink>
        <a:srgbClr val="EAEAEA"/>
      </a:folHlink>
    </a:clrScheme>
    <a:fontScheme name="Blank Presentation">
      <a:majorFont>
        <a:latin typeface="Arial"/>
        <a:ea typeface="Geneva"/>
        <a:cs typeface=""/>
      </a:majorFont>
      <a:minorFont>
        <a:latin typeface="Times New Roman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993333"/>
      </a:accent2>
      <a:accent3>
        <a:srgbClr val="FFFFFF"/>
      </a:accent3>
      <a:accent4>
        <a:srgbClr val="000000"/>
      </a:accent4>
      <a:accent5>
        <a:srgbClr val="EBEBEB"/>
      </a:accent5>
      <a:accent6>
        <a:srgbClr val="8A2D2D"/>
      </a:accent6>
      <a:hlink>
        <a:srgbClr val="4D4D4D"/>
      </a:hlink>
      <a:folHlink>
        <a:srgbClr val="EAEAEA"/>
      </a:folHlink>
    </a:clrScheme>
    <a:fontScheme name="Blank Presentation">
      <a:majorFont>
        <a:latin typeface="Arial"/>
        <a:ea typeface="Geneva"/>
        <a:cs typeface=""/>
      </a:majorFont>
      <a:minorFont>
        <a:latin typeface="Times New Roman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2400" b="0" i="0" u="none" strike="noStrike" cap="none" normalizeH="0" baseline="0">
            <a:solidFill>
              <a:schemeClr val="tx1"/>
            </a:solidFill>
            <a:effectLst/>
            <a:latin typeface="Times"/>
            <a:ea typeface="Geneva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2400" b="0" i="0" u="none" strike="noStrike" cap="none" normalizeH="0" baseline="0">
            <a:solidFill>
              <a:schemeClr val="tx1"/>
            </a:solidFill>
            <a:effectLst/>
            <a:latin typeface="Times"/>
            <a:ea typeface="Geneva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742950" indent="-742950">
          <a:lnSpc>
            <a:spcPts val="2800"/>
          </a:lnSpc>
          <a:defRPr sz="1600" dirty="0" smtClean="0">
            <a:ln w="3175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solidFill>
              <a:srgbClr val="0070C0"/>
            </a:solidFill>
            <a:cs typeface="Arial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40607</TotalTime>
  <Words>3112</Words>
  <Application>Microsoft Macintosh PowerPoint</Application>
  <PresentationFormat>화면 슬라이드 쇼(4:3)</PresentationFormat>
  <Paragraphs>374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맑은 고딕</vt:lpstr>
      <vt:lpstr>Pretendard Variable Light</vt:lpstr>
      <vt:lpstr>Pretendard Variable Medium</vt:lpstr>
      <vt:lpstr>Times</vt:lpstr>
      <vt:lpstr>Arial</vt:lpstr>
      <vt:lpstr>Cambria</vt:lpstr>
      <vt:lpstr>Times New Roman</vt:lpstr>
      <vt:lpstr>12_Blank Presentation</vt:lpstr>
      <vt:lpstr>12_Blank Presentation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Chae Woo Ryu</dc:creator>
  <cp:lastModifiedBy>장윤서</cp:lastModifiedBy>
  <cp:revision>769</cp:revision>
  <dcterms:created xsi:type="dcterms:W3CDTF">2023-01-05T01:00:43Z</dcterms:created>
  <dcterms:modified xsi:type="dcterms:W3CDTF">2026-07-11T04:56:10Z</dcterms:modified>
</cp:coreProperties>
</file>